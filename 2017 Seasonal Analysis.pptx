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75" r:id="rId6"/>
    <p:sldId id="276" r:id="rId7"/>
    <p:sldId id="277" r:id="rId8"/>
    <p:sldId id="260" r:id="rId9"/>
    <p:sldId id="261" r:id="rId10"/>
    <p:sldId id="262" r:id="rId11"/>
    <p:sldId id="263" r:id="rId12"/>
    <p:sldId id="264" r:id="rId13"/>
    <p:sldId id="265" r:id="rId14"/>
    <p:sldId id="266" r:id="rId15"/>
    <p:sldId id="267" r:id="rId16"/>
    <p:sldId id="268" r:id="rId17"/>
    <p:sldId id="269" r:id="rId18"/>
    <p:sldId id="271" r:id="rId19"/>
    <p:sldId id="270" r:id="rId20"/>
    <p:sldId id="272" r:id="rId21"/>
    <p:sldId id="273"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2" d="100"/>
          <a:sy n="82" d="100"/>
        </p:scale>
        <p:origin x="7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063387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433113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3532480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F9AAB-9487-4FCC-8154-43782C71AC6B}"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3536549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4F9AAB-9487-4FCC-8154-43782C71AC6B}" type="datetimeFigureOut">
              <a:rPr lang="en-US" smtClean="0"/>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3606174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4F9AAB-9487-4FCC-8154-43782C71AC6B}"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821611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4F9AAB-9487-4FCC-8154-43782C71AC6B}"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446858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4F9AAB-9487-4FCC-8154-43782C71AC6B}"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532456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4F9AAB-9487-4FCC-8154-43782C71AC6B}"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3086128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4F9AAB-9487-4FCC-8154-43782C71AC6B}"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26897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4294242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978464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2931290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3908585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939637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993573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4F9AAB-9487-4FCC-8154-43782C71AC6B}"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1BC506-D701-4526-8860-D55B33E63608}" type="slidenum">
              <a:rPr lang="en-US" smtClean="0"/>
              <a:t>‹#›</a:t>
            </a:fld>
            <a:endParaRPr lang="en-US"/>
          </a:p>
        </p:txBody>
      </p:sp>
    </p:spTree>
    <p:extLst>
      <p:ext uri="{BB962C8B-B14F-4D97-AF65-F5344CB8AC3E}">
        <p14:creationId xmlns:p14="http://schemas.microsoft.com/office/powerpoint/2010/main" val="1913432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4F9AAB-9487-4FCC-8154-43782C71AC6B}" type="datetimeFigureOut">
              <a:rPr lang="en-US" smtClean="0"/>
              <a:t>1/20/2026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1BC506-D701-4526-8860-D55B33E63608}" type="slidenum">
              <a:rPr lang="en-US" smtClean="0"/>
              <a:t>‹#›</a:t>
            </a:fld>
            <a:endParaRPr lang="en-US"/>
          </a:p>
        </p:txBody>
      </p:sp>
    </p:spTree>
    <p:extLst>
      <p:ext uri="{BB962C8B-B14F-4D97-AF65-F5344CB8AC3E}">
        <p14:creationId xmlns:p14="http://schemas.microsoft.com/office/powerpoint/2010/main" val="161119913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B4F0-5248-D665-BFF5-B1ABC2E79601}"/>
              </a:ext>
            </a:extLst>
          </p:cNvPr>
          <p:cNvSpPr>
            <a:spLocks noGrp="1"/>
          </p:cNvSpPr>
          <p:nvPr>
            <p:ph type="ctrTitle"/>
          </p:nvPr>
        </p:nvSpPr>
        <p:spPr>
          <a:xfrm>
            <a:off x="2928400" y="1715970"/>
            <a:ext cx="8574622" cy="2616199"/>
          </a:xfrm>
        </p:spPr>
        <p:txBody>
          <a:bodyPr/>
          <a:lstStyle/>
          <a:p>
            <a:r>
              <a:rPr lang="en-US" dirty="0"/>
              <a:t>NFL 2017 Seasonal Analysis</a:t>
            </a:r>
          </a:p>
        </p:txBody>
      </p:sp>
    </p:spTree>
    <p:extLst>
      <p:ext uri="{BB962C8B-B14F-4D97-AF65-F5344CB8AC3E}">
        <p14:creationId xmlns:p14="http://schemas.microsoft.com/office/powerpoint/2010/main" val="240911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BE79-1A07-9213-155D-A016196AD7A9}"/>
              </a:ext>
            </a:extLst>
          </p:cNvPr>
          <p:cNvSpPr>
            <a:spLocks noGrp="1"/>
          </p:cNvSpPr>
          <p:nvPr>
            <p:ph type="title"/>
          </p:nvPr>
        </p:nvSpPr>
        <p:spPr/>
        <p:txBody>
          <a:bodyPr/>
          <a:lstStyle/>
          <a:p>
            <a:r>
              <a:rPr lang="en-US" dirty="0"/>
              <a:t>2017 Season Overview</a:t>
            </a:r>
          </a:p>
        </p:txBody>
      </p:sp>
      <p:sp>
        <p:nvSpPr>
          <p:cNvPr id="3" name="Content Placeholder 2">
            <a:extLst>
              <a:ext uri="{FF2B5EF4-FFF2-40B4-BE49-F238E27FC236}">
                <a16:creationId xmlns:a16="http://schemas.microsoft.com/office/drawing/2014/main" id="{7C678248-183B-E244-14DC-F98031CA46DD}"/>
              </a:ext>
            </a:extLst>
          </p:cNvPr>
          <p:cNvSpPr>
            <a:spLocks noGrp="1"/>
          </p:cNvSpPr>
          <p:nvPr>
            <p:ph idx="1"/>
          </p:nvPr>
        </p:nvSpPr>
        <p:spPr>
          <a:xfrm>
            <a:off x="1484310" y="1866899"/>
            <a:ext cx="10018713" cy="3124201"/>
          </a:xfrm>
        </p:spPr>
        <p:txBody>
          <a:bodyPr/>
          <a:lstStyle/>
          <a:p>
            <a:r>
              <a:rPr lang="en-US" dirty="0"/>
              <a:t>There were no anomalies in season structure.</a:t>
            </a:r>
          </a:p>
          <a:p>
            <a:r>
              <a:rPr lang="en-US" dirty="0"/>
              <a:t>32 teams split into 8 divisions, each comprised of 4 teams:</a:t>
            </a:r>
          </a:p>
          <a:p>
            <a:pPr marL="0" indent="0">
              <a:buNone/>
            </a:pPr>
            <a:endParaRPr lang="en-US" dirty="0"/>
          </a:p>
          <a:p>
            <a:endParaRPr lang="en-US" dirty="0"/>
          </a:p>
        </p:txBody>
      </p:sp>
      <p:graphicFrame>
        <p:nvGraphicFramePr>
          <p:cNvPr id="6" name="Table 5">
            <a:extLst>
              <a:ext uri="{FF2B5EF4-FFF2-40B4-BE49-F238E27FC236}">
                <a16:creationId xmlns:a16="http://schemas.microsoft.com/office/drawing/2014/main" id="{B4EF9D2B-49C4-75B3-0494-3E22F5343D6B}"/>
              </a:ext>
            </a:extLst>
          </p:cNvPr>
          <p:cNvGraphicFramePr>
            <a:graphicFrameLocks noGrp="1"/>
          </p:cNvGraphicFramePr>
          <p:nvPr>
            <p:extLst>
              <p:ext uri="{D42A27DB-BD31-4B8C-83A1-F6EECF244321}">
                <p14:modId xmlns:p14="http://schemas.microsoft.com/office/powerpoint/2010/main" val="3514381614"/>
              </p:ext>
            </p:extLst>
          </p:nvPr>
        </p:nvGraphicFramePr>
        <p:xfrm>
          <a:off x="1586204" y="3750906"/>
          <a:ext cx="9121482" cy="2535715"/>
        </p:xfrm>
        <a:graphic>
          <a:graphicData uri="http://schemas.openxmlformats.org/drawingml/2006/table">
            <a:tbl>
              <a:tblPr firstRow="1" bandRow="1">
                <a:tableStyleId>{5C22544A-7EE6-4342-B048-85BDC9FD1C3A}</a:tableStyleId>
              </a:tblPr>
              <a:tblGrid>
                <a:gridCol w="1140185">
                  <a:extLst>
                    <a:ext uri="{9D8B030D-6E8A-4147-A177-3AD203B41FA5}">
                      <a16:colId xmlns:a16="http://schemas.microsoft.com/office/drawing/2014/main" val="1495167340"/>
                    </a:ext>
                  </a:extLst>
                </a:gridCol>
                <a:gridCol w="1140185">
                  <a:extLst>
                    <a:ext uri="{9D8B030D-6E8A-4147-A177-3AD203B41FA5}">
                      <a16:colId xmlns:a16="http://schemas.microsoft.com/office/drawing/2014/main" val="2815379600"/>
                    </a:ext>
                  </a:extLst>
                </a:gridCol>
                <a:gridCol w="1140185">
                  <a:extLst>
                    <a:ext uri="{9D8B030D-6E8A-4147-A177-3AD203B41FA5}">
                      <a16:colId xmlns:a16="http://schemas.microsoft.com/office/drawing/2014/main" val="4245561853"/>
                    </a:ext>
                  </a:extLst>
                </a:gridCol>
                <a:gridCol w="1140185">
                  <a:extLst>
                    <a:ext uri="{9D8B030D-6E8A-4147-A177-3AD203B41FA5}">
                      <a16:colId xmlns:a16="http://schemas.microsoft.com/office/drawing/2014/main" val="35020723"/>
                    </a:ext>
                  </a:extLst>
                </a:gridCol>
                <a:gridCol w="1242570">
                  <a:extLst>
                    <a:ext uri="{9D8B030D-6E8A-4147-A177-3AD203B41FA5}">
                      <a16:colId xmlns:a16="http://schemas.microsoft.com/office/drawing/2014/main" val="3991159304"/>
                    </a:ext>
                  </a:extLst>
                </a:gridCol>
                <a:gridCol w="1037802">
                  <a:extLst>
                    <a:ext uri="{9D8B030D-6E8A-4147-A177-3AD203B41FA5}">
                      <a16:colId xmlns:a16="http://schemas.microsoft.com/office/drawing/2014/main" val="3783972961"/>
                    </a:ext>
                  </a:extLst>
                </a:gridCol>
                <a:gridCol w="1140185">
                  <a:extLst>
                    <a:ext uri="{9D8B030D-6E8A-4147-A177-3AD203B41FA5}">
                      <a16:colId xmlns:a16="http://schemas.microsoft.com/office/drawing/2014/main" val="257612018"/>
                    </a:ext>
                  </a:extLst>
                </a:gridCol>
                <a:gridCol w="1140185">
                  <a:extLst>
                    <a:ext uri="{9D8B030D-6E8A-4147-A177-3AD203B41FA5}">
                      <a16:colId xmlns:a16="http://schemas.microsoft.com/office/drawing/2014/main" val="2940281177"/>
                    </a:ext>
                  </a:extLst>
                </a:gridCol>
              </a:tblGrid>
              <a:tr h="427499">
                <a:tc>
                  <a:txBody>
                    <a:bodyPr/>
                    <a:lstStyle/>
                    <a:p>
                      <a:r>
                        <a:rPr lang="en-US" sz="1200" dirty="0"/>
                        <a:t>AFC East</a:t>
                      </a:r>
                    </a:p>
                  </a:txBody>
                  <a:tcPr/>
                </a:tc>
                <a:tc>
                  <a:txBody>
                    <a:bodyPr/>
                    <a:lstStyle/>
                    <a:p>
                      <a:r>
                        <a:rPr lang="en-US" sz="1200" dirty="0"/>
                        <a:t>AFC North</a:t>
                      </a:r>
                    </a:p>
                  </a:txBody>
                  <a:tcPr/>
                </a:tc>
                <a:tc>
                  <a:txBody>
                    <a:bodyPr/>
                    <a:lstStyle/>
                    <a:p>
                      <a:r>
                        <a:rPr lang="en-US" sz="1200" dirty="0"/>
                        <a:t>AFC South</a:t>
                      </a:r>
                    </a:p>
                  </a:txBody>
                  <a:tcPr/>
                </a:tc>
                <a:tc>
                  <a:txBody>
                    <a:bodyPr/>
                    <a:lstStyle/>
                    <a:p>
                      <a:r>
                        <a:rPr lang="en-US" sz="1200" dirty="0"/>
                        <a:t>AFC West</a:t>
                      </a:r>
                    </a:p>
                  </a:txBody>
                  <a:tcPr/>
                </a:tc>
                <a:tc>
                  <a:txBody>
                    <a:bodyPr/>
                    <a:lstStyle/>
                    <a:p>
                      <a:r>
                        <a:rPr lang="en-US" sz="1200" dirty="0"/>
                        <a:t>NFC East</a:t>
                      </a:r>
                    </a:p>
                  </a:txBody>
                  <a:tcPr/>
                </a:tc>
                <a:tc>
                  <a:txBody>
                    <a:bodyPr/>
                    <a:lstStyle/>
                    <a:p>
                      <a:r>
                        <a:rPr lang="en-US" sz="1200" dirty="0"/>
                        <a:t>NFC North</a:t>
                      </a:r>
                    </a:p>
                  </a:txBody>
                  <a:tcPr/>
                </a:tc>
                <a:tc>
                  <a:txBody>
                    <a:bodyPr/>
                    <a:lstStyle/>
                    <a:p>
                      <a:r>
                        <a:rPr lang="en-US" sz="1200" dirty="0"/>
                        <a:t>NFC South</a:t>
                      </a:r>
                    </a:p>
                  </a:txBody>
                  <a:tcPr/>
                </a:tc>
                <a:tc>
                  <a:txBody>
                    <a:bodyPr/>
                    <a:lstStyle/>
                    <a:p>
                      <a:r>
                        <a:rPr lang="en-US" sz="1200" dirty="0"/>
                        <a:t>NFC West</a:t>
                      </a:r>
                    </a:p>
                  </a:txBody>
                  <a:tcPr/>
                </a:tc>
                <a:extLst>
                  <a:ext uri="{0D108BD9-81ED-4DB2-BD59-A6C34878D82A}">
                    <a16:rowId xmlns:a16="http://schemas.microsoft.com/office/drawing/2014/main" val="2012367348"/>
                  </a:ext>
                </a:extLst>
              </a:tr>
              <a:tr h="527054">
                <a:tc>
                  <a:txBody>
                    <a:bodyPr/>
                    <a:lstStyle/>
                    <a:p>
                      <a:r>
                        <a:rPr lang="en-US" sz="1200" dirty="0"/>
                        <a:t>Buffalo Bills</a:t>
                      </a:r>
                    </a:p>
                  </a:txBody>
                  <a:tcPr/>
                </a:tc>
                <a:tc>
                  <a:txBody>
                    <a:bodyPr/>
                    <a:lstStyle/>
                    <a:p>
                      <a:r>
                        <a:rPr lang="en-US" sz="1200" dirty="0"/>
                        <a:t>Baltimore Ravens</a:t>
                      </a:r>
                    </a:p>
                  </a:txBody>
                  <a:tcPr/>
                </a:tc>
                <a:tc>
                  <a:txBody>
                    <a:bodyPr/>
                    <a:lstStyle/>
                    <a:p>
                      <a:r>
                        <a:rPr lang="en-US" sz="1200" dirty="0"/>
                        <a:t>Houston Texans</a:t>
                      </a:r>
                    </a:p>
                  </a:txBody>
                  <a:tcPr/>
                </a:tc>
                <a:tc>
                  <a:txBody>
                    <a:bodyPr/>
                    <a:lstStyle/>
                    <a:p>
                      <a:r>
                        <a:rPr lang="en-US" sz="1200" dirty="0"/>
                        <a:t>Denver Broncos</a:t>
                      </a:r>
                    </a:p>
                  </a:txBody>
                  <a:tcPr/>
                </a:tc>
                <a:tc>
                  <a:txBody>
                    <a:bodyPr/>
                    <a:lstStyle/>
                    <a:p>
                      <a:r>
                        <a:rPr lang="en-US" sz="1200" dirty="0"/>
                        <a:t>Dallas Cowboys</a:t>
                      </a:r>
                    </a:p>
                  </a:txBody>
                  <a:tcPr/>
                </a:tc>
                <a:tc>
                  <a:txBody>
                    <a:bodyPr/>
                    <a:lstStyle/>
                    <a:p>
                      <a:r>
                        <a:rPr lang="en-US" sz="1200" dirty="0"/>
                        <a:t>Chicago Bears</a:t>
                      </a:r>
                    </a:p>
                  </a:txBody>
                  <a:tcPr/>
                </a:tc>
                <a:tc>
                  <a:txBody>
                    <a:bodyPr/>
                    <a:lstStyle/>
                    <a:p>
                      <a:r>
                        <a:rPr lang="en-US" sz="1200" dirty="0"/>
                        <a:t>Atlanta Falcons</a:t>
                      </a:r>
                    </a:p>
                  </a:txBody>
                  <a:tcPr/>
                </a:tc>
                <a:tc>
                  <a:txBody>
                    <a:bodyPr/>
                    <a:lstStyle/>
                    <a:p>
                      <a:r>
                        <a:rPr lang="en-US" sz="1200" dirty="0"/>
                        <a:t>Arizona Cardinals</a:t>
                      </a:r>
                    </a:p>
                  </a:txBody>
                  <a:tcPr/>
                </a:tc>
                <a:extLst>
                  <a:ext uri="{0D108BD9-81ED-4DB2-BD59-A6C34878D82A}">
                    <a16:rowId xmlns:a16="http://schemas.microsoft.com/office/drawing/2014/main" val="1706524519"/>
                  </a:ext>
                </a:extLst>
              </a:tr>
              <a:tr h="527054">
                <a:tc>
                  <a:txBody>
                    <a:bodyPr/>
                    <a:lstStyle/>
                    <a:p>
                      <a:r>
                        <a:rPr lang="en-US" sz="1200" dirty="0"/>
                        <a:t>Miami Dolphins</a:t>
                      </a:r>
                    </a:p>
                  </a:txBody>
                  <a:tcPr/>
                </a:tc>
                <a:tc>
                  <a:txBody>
                    <a:bodyPr/>
                    <a:lstStyle/>
                    <a:p>
                      <a:r>
                        <a:rPr lang="en-US" sz="1200" dirty="0"/>
                        <a:t>Cincinnati Bengals</a:t>
                      </a:r>
                    </a:p>
                  </a:txBody>
                  <a:tcPr/>
                </a:tc>
                <a:tc>
                  <a:txBody>
                    <a:bodyPr/>
                    <a:lstStyle/>
                    <a:p>
                      <a:r>
                        <a:rPr lang="en-US" sz="1200" dirty="0"/>
                        <a:t>Indianapolis Colts</a:t>
                      </a:r>
                    </a:p>
                  </a:txBody>
                  <a:tcPr/>
                </a:tc>
                <a:tc>
                  <a:txBody>
                    <a:bodyPr/>
                    <a:lstStyle/>
                    <a:p>
                      <a:r>
                        <a:rPr lang="en-US" sz="1200" dirty="0"/>
                        <a:t>Kansas City Chiefs</a:t>
                      </a:r>
                    </a:p>
                  </a:txBody>
                  <a:tcPr/>
                </a:tc>
                <a:tc>
                  <a:txBody>
                    <a:bodyPr/>
                    <a:lstStyle/>
                    <a:p>
                      <a:r>
                        <a:rPr lang="en-US" sz="1200" dirty="0"/>
                        <a:t>New York Giants</a:t>
                      </a:r>
                    </a:p>
                  </a:txBody>
                  <a:tcPr/>
                </a:tc>
                <a:tc>
                  <a:txBody>
                    <a:bodyPr/>
                    <a:lstStyle/>
                    <a:p>
                      <a:r>
                        <a:rPr lang="en-US" sz="1200" dirty="0"/>
                        <a:t>Detroit Lions</a:t>
                      </a:r>
                    </a:p>
                  </a:txBody>
                  <a:tcPr/>
                </a:tc>
                <a:tc>
                  <a:txBody>
                    <a:bodyPr/>
                    <a:lstStyle/>
                    <a:p>
                      <a:r>
                        <a:rPr lang="en-US" sz="1200" dirty="0"/>
                        <a:t>Carolina Panthers</a:t>
                      </a:r>
                    </a:p>
                  </a:txBody>
                  <a:tcPr/>
                </a:tc>
                <a:tc>
                  <a:txBody>
                    <a:bodyPr/>
                    <a:lstStyle/>
                    <a:p>
                      <a:r>
                        <a:rPr lang="en-US" sz="1200" dirty="0"/>
                        <a:t>Los Angeles Rams</a:t>
                      </a:r>
                    </a:p>
                  </a:txBody>
                  <a:tcPr/>
                </a:tc>
                <a:extLst>
                  <a:ext uri="{0D108BD9-81ED-4DB2-BD59-A6C34878D82A}">
                    <a16:rowId xmlns:a16="http://schemas.microsoft.com/office/drawing/2014/main" val="2260611836"/>
                  </a:ext>
                </a:extLst>
              </a:tr>
              <a:tr h="527054">
                <a:tc>
                  <a:txBody>
                    <a:bodyPr/>
                    <a:lstStyle/>
                    <a:p>
                      <a:r>
                        <a:rPr lang="en-US" sz="1200" dirty="0"/>
                        <a:t>New England Patriots</a:t>
                      </a:r>
                    </a:p>
                  </a:txBody>
                  <a:tcPr/>
                </a:tc>
                <a:tc>
                  <a:txBody>
                    <a:bodyPr/>
                    <a:lstStyle/>
                    <a:p>
                      <a:r>
                        <a:rPr lang="en-US" sz="1200" dirty="0"/>
                        <a:t>Cleveland Browns</a:t>
                      </a:r>
                    </a:p>
                  </a:txBody>
                  <a:tcPr/>
                </a:tc>
                <a:tc>
                  <a:txBody>
                    <a:bodyPr/>
                    <a:lstStyle/>
                    <a:p>
                      <a:r>
                        <a:rPr lang="en-US" sz="1200" dirty="0"/>
                        <a:t>Jacksonville Jaguars</a:t>
                      </a:r>
                    </a:p>
                  </a:txBody>
                  <a:tcPr/>
                </a:tc>
                <a:tc>
                  <a:txBody>
                    <a:bodyPr/>
                    <a:lstStyle/>
                    <a:p>
                      <a:r>
                        <a:rPr lang="en-US" sz="1200" dirty="0"/>
                        <a:t>Los Angeles Chargers</a:t>
                      </a:r>
                    </a:p>
                  </a:txBody>
                  <a:tcPr/>
                </a:tc>
                <a:tc>
                  <a:txBody>
                    <a:bodyPr/>
                    <a:lstStyle/>
                    <a:p>
                      <a:r>
                        <a:rPr lang="en-US" sz="1200" dirty="0"/>
                        <a:t>Philadelphia Eagles</a:t>
                      </a:r>
                    </a:p>
                  </a:txBody>
                  <a:tcPr/>
                </a:tc>
                <a:tc>
                  <a:txBody>
                    <a:bodyPr/>
                    <a:lstStyle/>
                    <a:p>
                      <a:r>
                        <a:rPr lang="en-US" sz="1200" dirty="0"/>
                        <a:t>Green Bay Packers</a:t>
                      </a:r>
                    </a:p>
                  </a:txBody>
                  <a:tcPr/>
                </a:tc>
                <a:tc>
                  <a:txBody>
                    <a:bodyPr/>
                    <a:lstStyle/>
                    <a:p>
                      <a:r>
                        <a:rPr lang="en-US" sz="1200" dirty="0"/>
                        <a:t>New Orleans Saints</a:t>
                      </a:r>
                    </a:p>
                  </a:txBody>
                  <a:tcPr/>
                </a:tc>
                <a:tc>
                  <a:txBody>
                    <a:bodyPr/>
                    <a:lstStyle/>
                    <a:p>
                      <a:r>
                        <a:rPr lang="en-US" sz="1200" dirty="0"/>
                        <a:t>San Francisco 49ers</a:t>
                      </a:r>
                    </a:p>
                  </a:txBody>
                  <a:tcPr/>
                </a:tc>
                <a:extLst>
                  <a:ext uri="{0D108BD9-81ED-4DB2-BD59-A6C34878D82A}">
                    <a16:rowId xmlns:a16="http://schemas.microsoft.com/office/drawing/2014/main" val="1949451063"/>
                  </a:ext>
                </a:extLst>
              </a:tr>
              <a:tr h="527054">
                <a:tc>
                  <a:txBody>
                    <a:bodyPr/>
                    <a:lstStyle/>
                    <a:p>
                      <a:r>
                        <a:rPr lang="en-US" sz="1200" dirty="0"/>
                        <a:t>New York Jets</a:t>
                      </a:r>
                    </a:p>
                  </a:txBody>
                  <a:tcPr/>
                </a:tc>
                <a:tc>
                  <a:txBody>
                    <a:bodyPr/>
                    <a:lstStyle/>
                    <a:p>
                      <a:r>
                        <a:rPr lang="en-US" sz="1200" dirty="0"/>
                        <a:t>Pittsburgh Steelers</a:t>
                      </a:r>
                    </a:p>
                  </a:txBody>
                  <a:tcPr/>
                </a:tc>
                <a:tc>
                  <a:txBody>
                    <a:bodyPr/>
                    <a:lstStyle/>
                    <a:p>
                      <a:r>
                        <a:rPr lang="en-US" sz="1200" dirty="0"/>
                        <a:t>Tennessee Titans</a:t>
                      </a:r>
                    </a:p>
                  </a:txBody>
                  <a:tcPr/>
                </a:tc>
                <a:tc>
                  <a:txBody>
                    <a:bodyPr/>
                    <a:lstStyle/>
                    <a:p>
                      <a:r>
                        <a:rPr lang="en-US" sz="1200" dirty="0"/>
                        <a:t>Las Vegas Raiders</a:t>
                      </a:r>
                    </a:p>
                  </a:txBody>
                  <a:tcPr/>
                </a:tc>
                <a:tc>
                  <a:txBody>
                    <a:bodyPr/>
                    <a:lstStyle/>
                    <a:p>
                      <a:r>
                        <a:rPr lang="en-US" sz="1200" dirty="0"/>
                        <a:t>Washington Commanders</a:t>
                      </a:r>
                    </a:p>
                  </a:txBody>
                  <a:tcPr/>
                </a:tc>
                <a:tc>
                  <a:txBody>
                    <a:bodyPr/>
                    <a:lstStyle/>
                    <a:p>
                      <a:r>
                        <a:rPr lang="en-US" sz="1200" dirty="0"/>
                        <a:t>Minnesota Vikings</a:t>
                      </a:r>
                    </a:p>
                  </a:txBody>
                  <a:tcPr/>
                </a:tc>
                <a:tc>
                  <a:txBody>
                    <a:bodyPr/>
                    <a:lstStyle/>
                    <a:p>
                      <a:r>
                        <a:rPr lang="en-US" sz="1200" dirty="0"/>
                        <a:t>Tampa Bay Buccaneers</a:t>
                      </a:r>
                    </a:p>
                  </a:txBody>
                  <a:tcPr/>
                </a:tc>
                <a:tc>
                  <a:txBody>
                    <a:bodyPr/>
                    <a:lstStyle/>
                    <a:p>
                      <a:r>
                        <a:rPr lang="en-US" sz="1200" dirty="0"/>
                        <a:t>Seattle Seahawks</a:t>
                      </a:r>
                    </a:p>
                  </a:txBody>
                  <a:tcPr/>
                </a:tc>
                <a:extLst>
                  <a:ext uri="{0D108BD9-81ED-4DB2-BD59-A6C34878D82A}">
                    <a16:rowId xmlns:a16="http://schemas.microsoft.com/office/drawing/2014/main" val="3167338650"/>
                  </a:ext>
                </a:extLst>
              </a:tr>
            </a:tbl>
          </a:graphicData>
        </a:graphic>
      </p:graphicFrame>
    </p:spTree>
    <p:extLst>
      <p:ext uri="{BB962C8B-B14F-4D97-AF65-F5344CB8AC3E}">
        <p14:creationId xmlns:p14="http://schemas.microsoft.com/office/powerpoint/2010/main" val="3016008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903E-959D-8A82-C222-426133A392DC}"/>
              </a:ext>
            </a:extLst>
          </p:cNvPr>
          <p:cNvSpPr>
            <a:spLocks noGrp="1"/>
          </p:cNvSpPr>
          <p:nvPr>
            <p:ph type="title"/>
          </p:nvPr>
        </p:nvSpPr>
        <p:spPr>
          <a:xfrm>
            <a:off x="1484312" y="685800"/>
            <a:ext cx="2812386" cy="1752599"/>
          </a:xfrm>
        </p:spPr>
        <p:txBody>
          <a:bodyPr>
            <a:normAutofit/>
          </a:bodyPr>
          <a:lstStyle/>
          <a:p>
            <a:r>
              <a:rPr lang="en-US" sz="3200" dirty="0"/>
              <a:t>Relevant Statistics</a:t>
            </a:r>
          </a:p>
        </p:txBody>
      </p:sp>
      <p:sp>
        <p:nvSpPr>
          <p:cNvPr id="15" name="Content Placeholder 14">
            <a:extLst>
              <a:ext uri="{FF2B5EF4-FFF2-40B4-BE49-F238E27FC236}">
                <a16:creationId xmlns:a16="http://schemas.microsoft.com/office/drawing/2014/main" id="{F9C76933-7045-A74E-4328-0294BA90C6B2}"/>
              </a:ext>
            </a:extLst>
          </p:cNvPr>
          <p:cNvSpPr>
            <a:spLocks noGrp="1"/>
          </p:cNvSpPr>
          <p:nvPr>
            <p:ph idx="1"/>
          </p:nvPr>
        </p:nvSpPr>
        <p:spPr>
          <a:xfrm>
            <a:off x="1484311" y="2666999"/>
            <a:ext cx="2963422" cy="3124201"/>
          </a:xfrm>
        </p:spPr>
        <p:txBody>
          <a:bodyPr>
            <a:normAutofit/>
          </a:bodyPr>
          <a:lstStyle/>
          <a:p>
            <a:r>
              <a:rPr lang="en-US" sz="1800" dirty="0">
                <a:solidFill>
                  <a:srgbClr val="FF0000"/>
                </a:solidFill>
              </a:rPr>
              <a:t>Red = 2017 in Total Yards Graph</a:t>
            </a:r>
          </a:p>
          <a:p>
            <a:r>
              <a:rPr lang="en-US" sz="1800" dirty="0">
                <a:solidFill>
                  <a:srgbClr val="0070C0"/>
                </a:solidFill>
              </a:rPr>
              <a:t>Blue = 2017 in Pass Yards Graph</a:t>
            </a:r>
          </a:p>
          <a:p>
            <a:r>
              <a:rPr lang="en-US" sz="1800" dirty="0">
                <a:solidFill>
                  <a:srgbClr val="00B050"/>
                </a:solidFill>
              </a:rPr>
              <a:t>Green = 2017 in Rush Yards Graph</a:t>
            </a:r>
          </a:p>
        </p:txBody>
      </p:sp>
      <p:sp>
        <p:nvSpPr>
          <p:cNvPr id="20" name="Rounded Rectangle 6">
            <a:extLst>
              <a:ext uri="{FF2B5EF4-FFF2-40B4-BE49-F238E27FC236}">
                <a16:creationId xmlns:a16="http://schemas.microsoft.com/office/drawing/2014/main" id="{A1168B92-270F-4F80-9833-FE1A26FCE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7552" y="648931"/>
            <a:ext cx="6917478"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7C35B38-7E15-D9CF-6616-AA4955C684FC}"/>
              </a:ext>
            </a:extLst>
          </p:cNvPr>
          <p:cNvPicPr>
            <a:picLocks noChangeAspect="1"/>
          </p:cNvPicPr>
          <p:nvPr/>
        </p:nvPicPr>
        <p:blipFill>
          <a:blip r:embed="rId3"/>
          <a:stretch>
            <a:fillRect/>
          </a:stretch>
        </p:blipFill>
        <p:spPr>
          <a:xfrm>
            <a:off x="4951185" y="1177794"/>
            <a:ext cx="3046123" cy="1858134"/>
          </a:xfrm>
          <a:prstGeom prst="rect">
            <a:avLst/>
          </a:prstGeom>
        </p:spPr>
      </p:pic>
      <p:pic>
        <p:nvPicPr>
          <p:cNvPr id="11" name="Picture 10">
            <a:extLst>
              <a:ext uri="{FF2B5EF4-FFF2-40B4-BE49-F238E27FC236}">
                <a16:creationId xmlns:a16="http://schemas.microsoft.com/office/drawing/2014/main" id="{88174D74-E989-5B01-61CF-097C468CAC06}"/>
              </a:ext>
            </a:extLst>
          </p:cNvPr>
          <p:cNvPicPr>
            <a:picLocks noChangeAspect="1"/>
          </p:cNvPicPr>
          <p:nvPr/>
        </p:nvPicPr>
        <p:blipFill>
          <a:blip r:embed="rId4"/>
          <a:stretch>
            <a:fillRect/>
          </a:stretch>
        </p:blipFill>
        <p:spPr>
          <a:xfrm>
            <a:off x="8167127" y="1184882"/>
            <a:ext cx="3047863" cy="1843957"/>
          </a:xfrm>
          <a:prstGeom prst="rect">
            <a:avLst/>
          </a:prstGeom>
        </p:spPr>
      </p:pic>
      <p:pic>
        <p:nvPicPr>
          <p:cNvPr id="9" name="Picture 8">
            <a:extLst>
              <a:ext uri="{FF2B5EF4-FFF2-40B4-BE49-F238E27FC236}">
                <a16:creationId xmlns:a16="http://schemas.microsoft.com/office/drawing/2014/main" id="{9F4E6853-A6F1-D36D-A9F6-5657BE4CC999}"/>
              </a:ext>
            </a:extLst>
          </p:cNvPr>
          <p:cNvPicPr>
            <a:picLocks noChangeAspect="1"/>
          </p:cNvPicPr>
          <p:nvPr/>
        </p:nvPicPr>
        <p:blipFill>
          <a:blip r:embed="rId5"/>
          <a:stretch>
            <a:fillRect/>
          </a:stretch>
        </p:blipFill>
        <p:spPr>
          <a:xfrm>
            <a:off x="4955538" y="3540069"/>
            <a:ext cx="3046123" cy="1844883"/>
          </a:xfrm>
          <a:prstGeom prst="rect">
            <a:avLst/>
          </a:prstGeom>
        </p:spPr>
      </p:pic>
      <p:pic>
        <p:nvPicPr>
          <p:cNvPr id="5" name="Content Placeholder 4">
            <a:extLst>
              <a:ext uri="{FF2B5EF4-FFF2-40B4-BE49-F238E27FC236}">
                <a16:creationId xmlns:a16="http://schemas.microsoft.com/office/drawing/2014/main" id="{E77780EE-2A24-9ACA-6404-CA13B947B3BE}"/>
              </a:ext>
            </a:extLst>
          </p:cNvPr>
          <p:cNvPicPr>
            <a:picLocks noChangeAspect="1"/>
          </p:cNvPicPr>
          <p:nvPr/>
        </p:nvPicPr>
        <p:blipFill>
          <a:blip r:embed="rId6"/>
          <a:stretch>
            <a:fillRect/>
          </a:stretch>
        </p:blipFill>
        <p:spPr>
          <a:xfrm>
            <a:off x="8167128" y="3628158"/>
            <a:ext cx="3047863" cy="1668705"/>
          </a:xfrm>
          <a:prstGeom prst="rect">
            <a:avLst/>
          </a:prstGeom>
        </p:spPr>
      </p:pic>
      <p:sp>
        <p:nvSpPr>
          <p:cNvPr id="12" name="TextBox 11">
            <a:extLst>
              <a:ext uri="{FF2B5EF4-FFF2-40B4-BE49-F238E27FC236}">
                <a16:creationId xmlns:a16="http://schemas.microsoft.com/office/drawing/2014/main" id="{BA265B37-5B16-FA43-2BC2-22347C0BEACF}"/>
              </a:ext>
            </a:extLst>
          </p:cNvPr>
          <p:cNvSpPr txBox="1"/>
          <p:nvPr/>
        </p:nvSpPr>
        <p:spPr>
          <a:xfrm>
            <a:off x="6181725" y="971362"/>
            <a:ext cx="760401" cy="369332"/>
          </a:xfrm>
          <a:prstGeom prst="rect">
            <a:avLst/>
          </a:prstGeom>
          <a:noFill/>
        </p:spPr>
        <p:txBody>
          <a:bodyPr wrap="none" rtlCol="0">
            <a:spAutoFit/>
          </a:bodyPr>
          <a:lstStyle/>
          <a:p>
            <a:r>
              <a:rPr lang="en-US" dirty="0"/>
              <a:t>Yards </a:t>
            </a:r>
          </a:p>
        </p:txBody>
      </p:sp>
      <p:sp>
        <p:nvSpPr>
          <p:cNvPr id="13" name="TextBox 12">
            <a:extLst>
              <a:ext uri="{FF2B5EF4-FFF2-40B4-BE49-F238E27FC236}">
                <a16:creationId xmlns:a16="http://schemas.microsoft.com/office/drawing/2014/main" id="{799825E9-5A3B-E5A2-0AAC-CA35C6B8FEFF}"/>
              </a:ext>
            </a:extLst>
          </p:cNvPr>
          <p:cNvSpPr txBox="1"/>
          <p:nvPr/>
        </p:nvSpPr>
        <p:spPr>
          <a:xfrm>
            <a:off x="5959676" y="3264913"/>
            <a:ext cx="1204497" cy="369332"/>
          </a:xfrm>
          <a:prstGeom prst="rect">
            <a:avLst/>
          </a:prstGeom>
          <a:noFill/>
        </p:spPr>
        <p:txBody>
          <a:bodyPr wrap="none" rtlCol="0">
            <a:spAutoFit/>
          </a:bodyPr>
          <a:lstStyle/>
          <a:p>
            <a:r>
              <a:rPr lang="en-US" dirty="0"/>
              <a:t>Rush Yards</a:t>
            </a:r>
          </a:p>
        </p:txBody>
      </p:sp>
      <p:sp>
        <p:nvSpPr>
          <p:cNvPr id="14" name="TextBox 13">
            <a:extLst>
              <a:ext uri="{FF2B5EF4-FFF2-40B4-BE49-F238E27FC236}">
                <a16:creationId xmlns:a16="http://schemas.microsoft.com/office/drawing/2014/main" id="{FB9323D7-55A4-B480-16B4-0573AB0DBC83}"/>
              </a:ext>
            </a:extLst>
          </p:cNvPr>
          <p:cNvSpPr txBox="1"/>
          <p:nvPr/>
        </p:nvSpPr>
        <p:spPr>
          <a:xfrm>
            <a:off x="9227848" y="971362"/>
            <a:ext cx="1166217" cy="369332"/>
          </a:xfrm>
          <a:prstGeom prst="rect">
            <a:avLst/>
          </a:prstGeom>
          <a:noFill/>
        </p:spPr>
        <p:txBody>
          <a:bodyPr wrap="none" rtlCol="0">
            <a:spAutoFit/>
          </a:bodyPr>
          <a:lstStyle/>
          <a:p>
            <a:r>
              <a:rPr lang="en-US" dirty="0"/>
              <a:t>Pass Yards</a:t>
            </a:r>
          </a:p>
        </p:txBody>
      </p:sp>
    </p:spTree>
    <p:extLst>
      <p:ext uri="{BB962C8B-B14F-4D97-AF65-F5344CB8AC3E}">
        <p14:creationId xmlns:p14="http://schemas.microsoft.com/office/powerpoint/2010/main" val="4201338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93737-9804-1E8F-92CC-5F8221C5961C}"/>
              </a:ext>
            </a:extLst>
          </p:cNvPr>
          <p:cNvSpPr>
            <a:spLocks noGrp="1"/>
          </p:cNvSpPr>
          <p:nvPr>
            <p:ph type="title"/>
          </p:nvPr>
        </p:nvSpPr>
        <p:spPr/>
        <p:txBody>
          <a:bodyPr/>
          <a:lstStyle/>
          <a:p>
            <a:r>
              <a:rPr lang="en-US" dirty="0"/>
              <a:t>Relevant Statistics Discussion</a:t>
            </a:r>
          </a:p>
        </p:txBody>
      </p:sp>
      <p:graphicFrame>
        <p:nvGraphicFramePr>
          <p:cNvPr id="5" name="Content Placeholder 4">
            <a:extLst>
              <a:ext uri="{FF2B5EF4-FFF2-40B4-BE49-F238E27FC236}">
                <a16:creationId xmlns:a16="http://schemas.microsoft.com/office/drawing/2014/main" id="{7E210068-7EE8-BA66-F02D-9C45B462D497}"/>
              </a:ext>
            </a:extLst>
          </p:cNvPr>
          <p:cNvGraphicFramePr>
            <a:graphicFrameLocks noGrp="1"/>
          </p:cNvGraphicFramePr>
          <p:nvPr>
            <p:ph idx="1"/>
            <p:extLst>
              <p:ext uri="{D42A27DB-BD31-4B8C-83A1-F6EECF244321}">
                <p14:modId xmlns:p14="http://schemas.microsoft.com/office/powerpoint/2010/main" val="1111573430"/>
              </p:ext>
            </p:extLst>
          </p:nvPr>
        </p:nvGraphicFramePr>
        <p:xfrm>
          <a:off x="1624272" y="2139820"/>
          <a:ext cx="10018712" cy="3772056"/>
        </p:xfrm>
        <a:graphic>
          <a:graphicData uri="http://schemas.openxmlformats.org/drawingml/2006/table">
            <a:tbl>
              <a:tblPr firstRow="1" bandRow="1">
                <a:tableStyleId>{5C22544A-7EE6-4342-B048-85BDC9FD1C3A}</a:tableStyleId>
              </a:tblPr>
              <a:tblGrid>
                <a:gridCol w="2504678">
                  <a:extLst>
                    <a:ext uri="{9D8B030D-6E8A-4147-A177-3AD203B41FA5}">
                      <a16:colId xmlns:a16="http://schemas.microsoft.com/office/drawing/2014/main" val="3194380496"/>
                    </a:ext>
                  </a:extLst>
                </a:gridCol>
                <a:gridCol w="2504678">
                  <a:extLst>
                    <a:ext uri="{9D8B030D-6E8A-4147-A177-3AD203B41FA5}">
                      <a16:colId xmlns:a16="http://schemas.microsoft.com/office/drawing/2014/main" val="669445486"/>
                    </a:ext>
                  </a:extLst>
                </a:gridCol>
                <a:gridCol w="2504678">
                  <a:extLst>
                    <a:ext uri="{9D8B030D-6E8A-4147-A177-3AD203B41FA5}">
                      <a16:colId xmlns:a16="http://schemas.microsoft.com/office/drawing/2014/main" val="1039873650"/>
                    </a:ext>
                  </a:extLst>
                </a:gridCol>
                <a:gridCol w="2504678">
                  <a:extLst>
                    <a:ext uri="{9D8B030D-6E8A-4147-A177-3AD203B41FA5}">
                      <a16:colId xmlns:a16="http://schemas.microsoft.com/office/drawing/2014/main" val="1995752609"/>
                    </a:ext>
                  </a:extLst>
                </a:gridCol>
              </a:tblGrid>
              <a:tr h="388776">
                <a:tc>
                  <a:txBody>
                    <a:bodyPr/>
                    <a:lstStyle/>
                    <a:p>
                      <a:r>
                        <a:rPr lang="en-US" dirty="0"/>
                        <a:t>Total Yards</a:t>
                      </a:r>
                    </a:p>
                  </a:txBody>
                  <a:tcPr/>
                </a:tc>
                <a:tc>
                  <a:txBody>
                    <a:bodyPr/>
                    <a:lstStyle/>
                    <a:p>
                      <a:r>
                        <a:rPr lang="en-US" dirty="0"/>
                        <a:t>Rush Yards</a:t>
                      </a:r>
                    </a:p>
                  </a:txBody>
                  <a:tcPr/>
                </a:tc>
                <a:tc>
                  <a:txBody>
                    <a:bodyPr/>
                    <a:lstStyle/>
                    <a:p>
                      <a:r>
                        <a:rPr lang="en-US" dirty="0"/>
                        <a:t>Pass Yards</a:t>
                      </a:r>
                    </a:p>
                  </a:txBody>
                  <a:tcPr/>
                </a:tc>
                <a:tc>
                  <a:txBody>
                    <a:bodyPr/>
                    <a:lstStyle/>
                    <a:p>
                      <a:r>
                        <a:rPr lang="en-US" dirty="0"/>
                        <a:t>QBR Rating</a:t>
                      </a:r>
                    </a:p>
                  </a:txBody>
                  <a:tcPr/>
                </a:tc>
                <a:extLst>
                  <a:ext uri="{0D108BD9-81ED-4DB2-BD59-A6C34878D82A}">
                    <a16:rowId xmlns:a16="http://schemas.microsoft.com/office/drawing/2014/main" val="658127075"/>
                  </a:ext>
                </a:extLst>
              </a:tr>
              <a:tr h="3363376">
                <a:tc>
                  <a:txBody>
                    <a:bodyPr/>
                    <a:lstStyle/>
                    <a:p>
                      <a:r>
                        <a:rPr lang="en-US" sz="1200" dirty="0"/>
                        <a:t>There is a general increase in average total yards per game per team across each season in the NFL. This trend starts to flatten around 2011 with about 350 average yards. There is a notable one season drop off in 2017 where the average yards drops to 335; from here, each season fluctuates above and below 350 yards until present day. There were no significant changes in the organization or game’s structure to account for this dip, so we can attribute this to the fact that 2017 (our season of interest) was not as offense heavy or more defense heavy in comparison to the other seasons.</a:t>
                      </a:r>
                    </a:p>
                  </a:txBody>
                  <a:tcPr/>
                </a:tc>
                <a:tc>
                  <a:txBody>
                    <a:bodyPr/>
                    <a:lstStyle/>
                    <a:p>
                      <a:r>
                        <a:rPr lang="en-US" sz="1200" dirty="0"/>
                        <a:t>There is no observable trend in average rush yards per game until 2011 where we see a decline.  Rush yards flatline for about two seasons at about 100 yards per game until 2017 which marks the inflection point of a steady increase in rush yards reaching over 120 rush yards in present day. This can help allude to the idea that in the mid 2010s, the pass game was taking over, however the increase in rush play’s popularity (like the QB sneak) could result in the recent increase in rush yards per game.</a:t>
                      </a:r>
                    </a:p>
                  </a:txBody>
                  <a:tcPr/>
                </a:tc>
                <a:tc>
                  <a:txBody>
                    <a:bodyPr/>
                    <a:lstStyle/>
                    <a:p>
                      <a:r>
                        <a:rPr lang="en-US" sz="1200" dirty="0"/>
                        <a:t>As expected, we see a general increase in average pass yards per game all the way until 2015 where we see a similar drop off in the total yards graph at the 2017 season. Starting at around 200 yards, pass yards peaked in 2016 with over 240 pass yards per team per game on average. However, 2017 sees a significant drop down to 220 pass yards. Again, this could suggest the change in play management across recent seasons. Passing generates more yards than rushing so it makes sense when passing yards were increasing so would total yards, and the drop off in 2017 is seen in both the pass and total yards graphs.</a:t>
                      </a:r>
                    </a:p>
                  </a:txBody>
                  <a:tcPr/>
                </a:tc>
                <a:tc>
                  <a:txBody>
                    <a:bodyPr/>
                    <a:lstStyle/>
                    <a:p>
                      <a:r>
                        <a:rPr lang="en-US" sz="1200" dirty="0"/>
                        <a:t>The mean QBR rating in 2017 was about 60 and its histogram created an approximately normal distribution, maybe slightly skewed left. The highest average QBR rating was held by the Eagles quarterback with a QBR of 78.6, while the lowest average QBR rating was held by the Broncos quarterback with a QBR rating of 31.4. I would go as far as to hypothesize that these ratings are lower than the average QBR ratings of other seasons considering 2017 was when we see that large drop in total average yards per game.</a:t>
                      </a:r>
                    </a:p>
                  </a:txBody>
                  <a:tcPr/>
                </a:tc>
                <a:extLst>
                  <a:ext uri="{0D108BD9-81ED-4DB2-BD59-A6C34878D82A}">
                    <a16:rowId xmlns:a16="http://schemas.microsoft.com/office/drawing/2014/main" val="2073345629"/>
                  </a:ext>
                </a:extLst>
              </a:tr>
            </a:tbl>
          </a:graphicData>
        </a:graphic>
      </p:graphicFrame>
    </p:spTree>
    <p:extLst>
      <p:ext uri="{BB962C8B-B14F-4D97-AF65-F5344CB8AC3E}">
        <p14:creationId xmlns:p14="http://schemas.microsoft.com/office/powerpoint/2010/main" val="3860678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5864-9DC0-EB9C-16EB-E714E252F9BF}"/>
              </a:ext>
            </a:extLst>
          </p:cNvPr>
          <p:cNvSpPr>
            <a:spLocks noGrp="1"/>
          </p:cNvSpPr>
          <p:nvPr>
            <p:ph type="title"/>
          </p:nvPr>
        </p:nvSpPr>
        <p:spPr>
          <a:xfrm>
            <a:off x="1484311" y="1348274"/>
            <a:ext cx="4074345" cy="1752599"/>
          </a:xfrm>
        </p:spPr>
        <p:txBody>
          <a:bodyPr>
            <a:normAutofit fontScale="90000"/>
          </a:bodyPr>
          <a:lstStyle/>
          <a:p>
            <a:r>
              <a:rPr lang="en-US" dirty="0"/>
              <a:t>Scoring Distribution (Home Score)</a:t>
            </a:r>
          </a:p>
        </p:txBody>
      </p:sp>
      <p:sp>
        <p:nvSpPr>
          <p:cNvPr id="13" name="Content Placeholder 12">
            <a:extLst>
              <a:ext uri="{FF2B5EF4-FFF2-40B4-BE49-F238E27FC236}">
                <a16:creationId xmlns:a16="http://schemas.microsoft.com/office/drawing/2014/main" id="{86FE39D4-D6FC-2D14-4A8F-21D91D552C10}"/>
              </a:ext>
            </a:extLst>
          </p:cNvPr>
          <p:cNvSpPr>
            <a:spLocks noGrp="1"/>
          </p:cNvSpPr>
          <p:nvPr>
            <p:ph idx="1"/>
          </p:nvPr>
        </p:nvSpPr>
        <p:spPr>
          <a:xfrm>
            <a:off x="1484311" y="2666999"/>
            <a:ext cx="4074345" cy="3124201"/>
          </a:xfrm>
        </p:spPr>
        <p:txBody>
          <a:bodyPr>
            <a:normAutofit/>
          </a:bodyPr>
          <a:lstStyle/>
          <a:p>
            <a:r>
              <a:rPr lang="en-US" sz="2000" dirty="0"/>
              <a:t>Mean: 22.96</a:t>
            </a:r>
          </a:p>
          <a:p>
            <a:r>
              <a:rPr lang="en-US" sz="2000" dirty="0"/>
              <a:t>Standard Deviation: 10.67</a:t>
            </a:r>
          </a:p>
          <a:p>
            <a:r>
              <a:rPr lang="en-US" sz="2000" dirty="0"/>
              <a:t>Shapiro-Wilkes Test p-value: 0.98921</a:t>
            </a:r>
          </a:p>
          <a:p>
            <a:endParaRPr lang="en-US" dirty="0"/>
          </a:p>
        </p:txBody>
      </p:sp>
      <p:pic>
        <p:nvPicPr>
          <p:cNvPr id="8" name="Picture 7">
            <a:extLst>
              <a:ext uri="{FF2B5EF4-FFF2-40B4-BE49-F238E27FC236}">
                <a16:creationId xmlns:a16="http://schemas.microsoft.com/office/drawing/2014/main" id="{A0929FF4-8A91-36F2-8498-38273554F34E}"/>
              </a:ext>
            </a:extLst>
          </p:cNvPr>
          <p:cNvPicPr>
            <a:picLocks noChangeAspect="1"/>
          </p:cNvPicPr>
          <p:nvPr/>
        </p:nvPicPr>
        <p:blipFill>
          <a:blip r:embed="rId3"/>
          <a:stretch>
            <a:fillRect/>
          </a:stretch>
        </p:blipFill>
        <p:spPr>
          <a:xfrm>
            <a:off x="4467261" y="4482551"/>
            <a:ext cx="3636708" cy="210020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4" name="Picture 3">
            <a:extLst>
              <a:ext uri="{FF2B5EF4-FFF2-40B4-BE49-F238E27FC236}">
                <a16:creationId xmlns:a16="http://schemas.microsoft.com/office/drawing/2014/main" id="{7439D982-C45B-EB26-8AC2-DBB42F67E406}"/>
              </a:ext>
            </a:extLst>
          </p:cNvPr>
          <p:cNvPicPr>
            <a:picLocks noChangeAspect="1"/>
          </p:cNvPicPr>
          <p:nvPr/>
        </p:nvPicPr>
        <p:blipFill rotWithShape="1">
          <a:blip r:embed="rId4"/>
          <a:srcRect b="47480"/>
          <a:stretch/>
        </p:blipFill>
        <p:spPr>
          <a:xfrm>
            <a:off x="6285615" y="1643051"/>
            <a:ext cx="3856022" cy="242536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11" name="Picture 10">
            <a:extLst>
              <a:ext uri="{FF2B5EF4-FFF2-40B4-BE49-F238E27FC236}">
                <a16:creationId xmlns:a16="http://schemas.microsoft.com/office/drawing/2014/main" id="{F8E206CB-AA43-892C-9B61-3D78618B0177}"/>
              </a:ext>
            </a:extLst>
          </p:cNvPr>
          <p:cNvPicPr>
            <a:picLocks noChangeAspect="1"/>
          </p:cNvPicPr>
          <p:nvPr/>
        </p:nvPicPr>
        <p:blipFill>
          <a:blip r:embed="rId5"/>
          <a:stretch>
            <a:fillRect/>
          </a:stretch>
        </p:blipFill>
        <p:spPr>
          <a:xfrm>
            <a:off x="8397928" y="4437093"/>
            <a:ext cx="3636709" cy="2145658"/>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720094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5864-9DC0-EB9C-16EB-E714E252F9BF}"/>
              </a:ext>
            </a:extLst>
          </p:cNvPr>
          <p:cNvSpPr>
            <a:spLocks noGrp="1"/>
          </p:cNvSpPr>
          <p:nvPr>
            <p:ph type="title"/>
          </p:nvPr>
        </p:nvSpPr>
        <p:spPr>
          <a:xfrm>
            <a:off x="1450139" y="1292208"/>
            <a:ext cx="4468619" cy="1752599"/>
          </a:xfrm>
        </p:spPr>
        <p:txBody>
          <a:bodyPr>
            <a:normAutofit/>
          </a:bodyPr>
          <a:lstStyle/>
          <a:p>
            <a:pPr>
              <a:lnSpc>
                <a:spcPct val="90000"/>
              </a:lnSpc>
            </a:pPr>
            <a:r>
              <a:rPr lang="en-US" dirty="0"/>
              <a:t>Scoring Distribution (Away Score)</a:t>
            </a:r>
          </a:p>
        </p:txBody>
      </p:sp>
      <p:sp>
        <p:nvSpPr>
          <p:cNvPr id="13" name="Content Placeholder 12">
            <a:extLst>
              <a:ext uri="{FF2B5EF4-FFF2-40B4-BE49-F238E27FC236}">
                <a16:creationId xmlns:a16="http://schemas.microsoft.com/office/drawing/2014/main" id="{86FE39D4-D6FC-2D14-4A8F-21D91D552C10}"/>
              </a:ext>
            </a:extLst>
          </p:cNvPr>
          <p:cNvSpPr>
            <a:spLocks noGrp="1"/>
          </p:cNvSpPr>
          <p:nvPr>
            <p:ph idx="1"/>
          </p:nvPr>
        </p:nvSpPr>
        <p:spPr>
          <a:xfrm>
            <a:off x="1450139" y="2483832"/>
            <a:ext cx="4074345" cy="3124201"/>
          </a:xfrm>
        </p:spPr>
        <p:txBody>
          <a:bodyPr>
            <a:normAutofit/>
          </a:bodyPr>
          <a:lstStyle/>
          <a:p>
            <a:r>
              <a:rPr lang="en-US" sz="2000" dirty="0"/>
              <a:t>Mean: 20.48</a:t>
            </a:r>
          </a:p>
          <a:p>
            <a:r>
              <a:rPr lang="en-US" sz="2000" dirty="0"/>
              <a:t>Standard Deviation: 9.64</a:t>
            </a:r>
          </a:p>
          <a:p>
            <a:r>
              <a:rPr lang="en-US" sz="2000" dirty="0"/>
              <a:t>Shapiro-Wilkes Test p-value: 0.2524613</a:t>
            </a:r>
          </a:p>
        </p:txBody>
      </p:sp>
      <p:pic>
        <p:nvPicPr>
          <p:cNvPr id="4" name="Picture 3">
            <a:extLst>
              <a:ext uri="{FF2B5EF4-FFF2-40B4-BE49-F238E27FC236}">
                <a16:creationId xmlns:a16="http://schemas.microsoft.com/office/drawing/2014/main" id="{2F5EEE60-DF5F-C6E3-E133-344C9D80EC36}"/>
              </a:ext>
            </a:extLst>
          </p:cNvPr>
          <p:cNvPicPr>
            <a:picLocks noChangeAspect="1"/>
          </p:cNvPicPr>
          <p:nvPr/>
        </p:nvPicPr>
        <p:blipFill>
          <a:blip r:embed="rId3"/>
          <a:stretch>
            <a:fillRect/>
          </a:stretch>
        </p:blipFill>
        <p:spPr>
          <a:xfrm>
            <a:off x="6273244" y="1454797"/>
            <a:ext cx="4310049" cy="2424403"/>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11" name="Picture 10">
            <a:extLst>
              <a:ext uri="{FF2B5EF4-FFF2-40B4-BE49-F238E27FC236}">
                <a16:creationId xmlns:a16="http://schemas.microsoft.com/office/drawing/2014/main" id="{7B68FDCD-9610-32D9-D446-DF499ABEDCEF}"/>
              </a:ext>
            </a:extLst>
          </p:cNvPr>
          <p:cNvPicPr>
            <a:picLocks noChangeAspect="1"/>
          </p:cNvPicPr>
          <p:nvPr/>
        </p:nvPicPr>
        <p:blipFill>
          <a:blip r:embed="rId4"/>
          <a:stretch>
            <a:fillRect/>
          </a:stretch>
        </p:blipFill>
        <p:spPr>
          <a:xfrm>
            <a:off x="4827077" y="4546271"/>
            <a:ext cx="3441594" cy="2107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8" name="Picture 7">
            <a:extLst>
              <a:ext uri="{FF2B5EF4-FFF2-40B4-BE49-F238E27FC236}">
                <a16:creationId xmlns:a16="http://schemas.microsoft.com/office/drawing/2014/main" id="{6FDB6D3C-4502-AC03-2790-46A94CB95AF7}"/>
              </a:ext>
            </a:extLst>
          </p:cNvPr>
          <p:cNvPicPr>
            <a:picLocks noChangeAspect="1"/>
          </p:cNvPicPr>
          <p:nvPr/>
        </p:nvPicPr>
        <p:blipFill>
          <a:blip r:embed="rId5"/>
          <a:stretch>
            <a:fillRect/>
          </a:stretch>
        </p:blipFill>
        <p:spPr>
          <a:xfrm>
            <a:off x="8416212" y="4524820"/>
            <a:ext cx="3687320" cy="212942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663777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1DE4-6ECB-FCEA-790E-F6B396621A3C}"/>
              </a:ext>
            </a:extLst>
          </p:cNvPr>
          <p:cNvSpPr>
            <a:spLocks noGrp="1"/>
          </p:cNvSpPr>
          <p:nvPr>
            <p:ph type="title"/>
          </p:nvPr>
        </p:nvSpPr>
        <p:spPr/>
        <p:txBody>
          <a:bodyPr/>
          <a:lstStyle/>
          <a:p>
            <a:r>
              <a:rPr lang="en-US" dirty="0"/>
              <a:t>Scoreline Distribution (Home vs. Away)</a:t>
            </a:r>
          </a:p>
        </p:txBody>
      </p:sp>
      <p:pic>
        <p:nvPicPr>
          <p:cNvPr id="4" name="Picture 3">
            <a:extLst>
              <a:ext uri="{FF2B5EF4-FFF2-40B4-BE49-F238E27FC236}">
                <a16:creationId xmlns:a16="http://schemas.microsoft.com/office/drawing/2014/main" id="{4518886A-1EC1-863E-481F-53C6A2316452}"/>
              </a:ext>
            </a:extLst>
          </p:cNvPr>
          <p:cNvPicPr>
            <a:picLocks noChangeAspect="1"/>
          </p:cNvPicPr>
          <p:nvPr/>
        </p:nvPicPr>
        <p:blipFill>
          <a:blip r:embed="rId2"/>
          <a:stretch>
            <a:fillRect/>
          </a:stretch>
        </p:blipFill>
        <p:spPr>
          <a:xfrm>
            <a:off x="3171059" y="2310097"/>
            <a:ext cx="6645216" cy="3749365"/>
          </a:xfrm>
          <a:prstGeom prst="rect">
            <a:avLst/>
          </a:prstGeom>
        </p:spPr>
      </p:pic>
    </p:spTree>
    <p:extLst>
      <p:ext uri="{BB962C8B-B14F-4D97-AF65-F5344CB8AC3E}">
        <p14:creationId xmlns:p14="http://schemas.microsoft.com/office/powerpoint/2010/main" val="881984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5864-9DC0-EB9C-16EB-E714E252F9BF}"/>
              </a:ext>
            </a:extLst>
          </p:cNvPr>
          <p:cNvSpPr>
            <a:spLocks noGrp="1"/>
          </p:cNvSpPr>
          <p:nvPr>
            <p:ph type="title"/>
          </p:nvPr>
        </p:nvSpPr>
        <p:spPr>
          <a:xfrm>
            <a:off x="1484312" y="685800"/>
            <a:ext cx="4074345" cy="1752599"/>
          </a:xfrm>
        </p:spPr>
        <p:txBody>
          <a:bodyPr>
            <a:normAutofit fontScale="90000"/>
          </a:bodyPr>
          <a:lstStyle/>
          <a:p>
            <a:r>
              <a:rPr lang="en-US" dirty="0"/>
              <a:t>Scoring Distribution (Margin of Victory)</a:t>
            </a:r>
          </a:p>
        </p:txBody>
      </p:sp>
      <p:sp>
        <p:nvSpPr>
          <p:cNvPr id="13" name="Content Placeholder 12">
            <a:extLst>
              <a:ext uri="{FF2B5EF4-FFF2-40B4-BE49-F238E27FC236}">
                <a16:creationId xmlns:a16="http://schemas.microsoft.com/office/drawing/2014/main" id="{86FE39D4-D6FC-2D14-4A8F-21D91D552C10}"/>
              </a:ext>
            </a:extLst>
          </p:cNvPr>
          <p:cNvSpPr>
            <a:spLocks noGrp="1"/>
          </p:cNvSpPr>
          <p:nvPr>
            <p:ph idx="1"/>
          </p:nvPr>
        </p:nvSpPr>
        <p:spPr>
          <a:xfrm>
            <a:off x="1484311" y="2666999"/>
            <a:ext cx="4074345" cy="3124201"/>
          </a:xfrm>
        </p:spPr>
        <p:txBody>
          <a:bodyPr>
            <a:normAutofit/>
          </a:bodyPr>
          <a:lstStyle/>
          <a:p>
            <a:r>
              <a:rPr lang="en-US" dirty="0"/>
              <a:t>Mean: 2.48</a:t>
            </a:r>
          </a:p>
          <a:p>
            <a:r>
              <a:rPr lang="en-US" dirty="0"/>
              <a:t>Standard Deviation: 14.62</a:t>
            </a:r>
          </a:p>
          <a:p>
            <a:r>
              <a:rPr lang="en-US" dirty="0"/>
              <a:t>Shapiro-Wilkes Test p-value: 0.5503 </a:t>
            </a:r>
          </a:p>
        </p:txBody>
      </p:sp>
      <p:pic>
        <p:nvPicPr>
          <p:cNvPr id="7" name="Picture 6">
            <a:extLst>
              <a:ext uri="{FF2B5EF4-FFF2-40B4-BE49-F238E27FC236}">
                <a16:creationId xmlns:a16="http://schemas.microsoft.com/office/drawing/2014/main" id="{62C12F21-4320-8457-C9BE-1472BEFAACB7}"/>
              </a:ext>
            </a:extLst>
          </p:cNvPr>
          <p:cNvPicPr>
            <a:picLocks noChangeAspect="1"/>
          </p:cNvPicPr>
          <p:nvPr/>
        </p:nvPicPr>
        <p:blipFill>
          <a:blip r:embed="rId3"/>
          <a:stretch>
            <a:fillRect/>
          </a:stretch>
        </p:blipFill>
        <p:spPr>
          <a:xfrm>
            <a:off x="5696986" y="4041787"/>
            <a:ext cx="3153269" cy="1844663"/>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5" name="Content Placeholder 4">
            <a:extLst>
              <a:ext uri="{FF2B5EF4-FFF2-40B4-BE49-F238E27FC236}">
                <a16:creationId xmlns:a16="http://schemas.microsoft.com/office/drawing/2014/main" id="{D65408F9-F66C-FC8F-3197-BC17A4B64656}"/>
              </a:ext>
            </a:extLst>
          </p:cNvPr>
          <p:cNvPicPr>
            <a:picLocks noChangeAspect="1"/>
          </p:cNvPicPr>
          <p:nvPr/>
        </p:nvPicPr>
        <p:blipFill>
          <a:blip r:embed="rId4"/>
          <a:stretch>
            <a:fillRect/>
          </a:stretch>
        </p:blipFill>
        <p:spPr>
          <a:xfrm>
            <a:off x="6778567" y="1153953"/>
            <a:ext cx="4143375" cy="256889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9" name="Picture 8">
            <a:extLst>
              <a:ext uri="{FF2B5EF4-FFF2-40B4-BE49-F238E27FC236}">
                <a16:creationId xmlns:a16="http://schemas.microsoft.com/office/drawing/2014/main" id="{228C6170-0BE0-1E79-8571-82BEF1028F4E}"/>
              </a:ext>
            </a:extLst>
          </p:cNvPr>
          <p:cNvPicPr>
            <a:picLocks noChangeAspect="1"/>
          </p:cNvPicPr>
          <p:nvPr/>
        </p:nvPicPr>
        <p:blipFill>
          <a:blip r:embed="rId5"/>
          <a:stretch>
            <a:fillRect/>
          </a:stretch>
        </p:blipFill>
        <p:spPr>
          <a:xfrm>
            <a:off x="8988585" y="4041787"/>
            <a:ext cx="3036484" cy="1844663"/>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43411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A64E1-6AC5-C3AB-6297-F8D8C6165AEA}"/>
              </a:ext>
            </a:extLst>
          </p:cNvPr>
          <p:cNvSpPr>
            <a:spLocks noGrp="1"/>
          </p:cNvSpPr>
          <p:nvPr>
            <p:ph type="title"/>
          </p:nvPr>
        </p:nvSpPr>
        <p:spPr/>
        <p:txBody>
          <a:bodyPr/>
          <a:lstStyle/>
          <a:p>
            <a:r>
              <a:rPr lang="en-US" dirty="0"/>
              <a:t>Scoring Distribution Discussion</a:t>
            </a:r>
          </a:p>
        </p:txBody>
      </p:sp>
      <p:graphicFrame>
        <p:nvGraphicFramePr>
          <p:cNvPr id="5" name="Content Placeholder 4">
            <a:extLst>
              <a:ext uri="{FF2B5EF4-FFF2-40B4-BE49-F238E27FC236}">
                <a16:creationId xmlns:a16="http://schemas.microsoft.com/office/drawing/2014/main" id="{E3AFC448-5A35-9609-CFD4-C353E49D5CE9}"/>
              </a:ext>
            </a:extLst>
          </p:cNvPr>
          <p:cNvGraphicFramePr>
            <a:graphicFrameLocks noGrp="1"/>
          </p:cNvGraphicFramePr>
          <p:nvPr>
            <p:ph idx="1"/>
            <p:extLst>
              <p:ext uri="{D42A27DB-BD31-4B8C-83A1-F6EECF244321}">
                <p14:modId xmlns:p14="http://schemas.microsoft.com/office/powerpoint/2010/main" val="1084870040"/>
              </p:ext>
            </p:extLst>
          </p:nvPr>
        </p:nvGraphicFramePr>
        <p:xfrm>
          <a:off x="1484311" y="1990528"/>
          <a:ext cx="10018712" cy="4728705"/>
        </p:xfrm>
        <a:graphic>
          <a:graphicData uri="http://schemas.openxmlformats.org/drawingml/2006/table">
            <a:tbl>
              <a:tblPr firstRow="1" bandRow="1">
                <a:tableStyleId>{5C22544A-7EE6-4342-B048-85BDC9FD1C3A}</a:tableStyleId>
              </a:tblPr>
              <a:tblGrid>
                <a:gridCol w="2504678">
                  <a:extLst>
                    <a:ext uri="{9D8B030D-6E8A-4147-A177-3AD203B41FA5}">
                      <a16:colId xmlns:a16="http://schemas.microsoft.com/office/drawing/2014/main" val="539166019"/>
                    </a:ext>
                  </a:extLst>
                </a:gridCol>
                <a:gridCol w="2504678">
                  <a:extLst>
                    <a:ext uri="{9D8B030D-6E8A-4147-A177-3AD203B41FA5}">
                      <a16:colId xmlns:a16="http://schemas.microsoft.com/office/drawing/2014/main" val="982259682"/>
                    </a:ext>
                  </a:extLst>
                </a:gridCol>
                <a:gridCol w="2504678">
                  <a:extLst>
                    <a:ext uri="{9D8B030D-6E8A-4147-A177-3AD203B41FA5}">
                      <a16:colId xmlns:a16="http://schemas.microsoft.com/office/drawing/2014/main" val="1607256301"/>
                    </a:ext>
                  </a:extLst>
                </a:gridCol>
                <a:gridCol w="2504678">
                  <a:extLst>
                    <a:ext uri="{9D8B030D-6E8A-4147-A177-3AD203B41FA5}">
                      <a16:colId xmlns:a16="http://schemas.microsoft.com/office/drawing/2014/main" val="2505119367"/>
                    </a:ext>
                  </a:extLst>
                </a:gridCol>
              </a:tblGrid>
              <a:tr h="431025">
                <a:tc>
                  <a:txBody>
                    <a:bodyPr/>
                    <a:lstStyle/>
                    <a:p>
                      <a:r>
                        <a:rPr lang="en-US" dirty="0"/>
                        <a:t>Home Points</a:t>
                      </a:r>
                    </a:p>
                  </a:txBody>
                  <a:tcPr/>
                </a:tc>
                <a:tc>
                  <a:txBody>
                    <a:bodyPr/>
                    <a:lstStyle/>
                    <a:p>
                      <a:r>
                        <a:rPr lang="en-US" dirty="0"/>
                        <a:t>Away Points</a:t>
                      </a:r>
                    </a:p>
                  </a:txBody>
                  <a:tcPr/>
                </a:tc>
                <a:tc>
                  <a:txBody>
                    <a:bodyPr/>
                    <a:lstStyle/>
                    <a:p>
                      <a:r>
                        <a:rPr lang="en-US" dirty="0"/>
                        <a:t>Home vs. Away</a:t>
                      </a:r>
                    </a:p>
                  </a:txBody>
                  <a:tcPr/>
                </a:tc>
                <a:tc>
                  <a:txBody>
                    <a:bodyPr/>
                    <a:lstStyle/>
                    <a:p>
                      <a:r>
                        <a:rPr lang="en-US" dirty="0" err="1"/>
                        <a:t>MoV</a:t>
                      </a:r>
                      <a:endParaRPr lang="en-US" dirty="0"/>
                    </a:p>
                  </a:txBody>
                  <a:tcPr/>
                </a:tc>
                <a:extLst>
                  <a:ext uri="{0D108BD9-81ED-4DB2-BD59-A6C34878D82A}">
                    <a16:rowId xmlns:a16="http://schemas.microsoft.com/office/drawing/2014/main" val="1988530781"/>
                  </a:ext>
                </a:extLst>
              </a:tr>
              <a:tr h="3498720">
                <a:tc>
                  <a:txBody>
                    <a:bodyPr/>
                    <a:lstStyle/>
                    <a:p>
                      <a:r>
                        <a:rPr lang="en-US" sz="1200" dirty="0"/>
                        <a:t>There is an approximately normal distribution of home points scored according to the normal probability plot, however, the histogram seems a little skewed right. On average, the home team scores 22 points, however there are some outliers in which the home team scores upwards of 50 points. It is interesting that the 5–10-point bin of the histogram is almost as great as the center of the histogram, meaning there are just as many home teams scoring 5-10 points as there are scoring 20-25 points. I would account that as being a difference in team strength; some home teams win through their defense (5-10 points) and some their offense (20-25 points).</a:t>
                      </a:r>
                    </a:p>
                  </a:txBody>
                  <a:tcPr/>
                </a:tc>
                <a:tc>
                  <a:txBody>
                    <a:bodyPr/>
                    <a:lstStyle/>
                    <a:p>
                      <a:r>
                        <a:rPr lang="en-US" sz="1200" dirty="0"/>
                        <a:t>The away team points histogram looks extremely like the home team points histogram. The average away team points is 20, however, like the home team distribution, we see some outliers up towards the 50-point bin. The away points distribution is approximately normal, but arguably skewed right. We see the same anomaly in the 5—10-point bin that we saw in the home point histogram, thus more evidence that this is caused by variety in team strength (offense vs. defense). This could also be because not every team truly gets a home field advantage. The Rams are known to not play differently at home vs. away. Some teams, like KC play exceptionally better at home which could cause these differences in the histogram.</a:t>
                      </a:r>
                    </a:p>
                  </a:txBody>
                  <a:tcPr/>
                </a:tc>
                <a:tc>
                  <a:txBody>
                    <a:bodyPr/>
                    <a:lstStyle/>
                    <a:p>
                      <a:r>
                        <a:rPr lang="en-US" sz="1200" dirty="0"/>
                        <a:t>The scatterplot between home points and away points does not show any real relationship between the two variables. There is no pattern that can be seen; thus, we can conclude that neither variable will indicate any information about the other. The number of points the home team scores has no influence on the number of points the away team scores and vice versa. Logically, this makes sense, since one team’s offense is independent of their defense. A team may be great at scoring points, but their defense could be bad at stopping points. Thus, no information can be determined by using solely home and away points. </a:t>
                      </a:r>
                    </a:p>
                  </a:txBody>
                  <a:tcPr/>
                </a:tc>
                <a:tc>
                  <a:txBody>
                    <a:bodyPr/>
                    <a:lstStyle/>
                    <a:p>
                      <a:r>
                        <a:rPr lang="en-US" sz="1200" dirty="0"/>
                        <a:t>The margin of victory histogram had an approximately normal distribution with no skewing or other anomalies. On average, the margin of victory is between 2 and 3 points, which means the average home team would beat the average away team by 2.5 points. This makes sense because you would expect the team with the home team advantage to win the game, however, I would have expected the margin of victory to be between 3 and 6 since those are the points allotted to a field goal and a touchdown. Having a margin of victory less than 3 suggests that there are a games in which the away teams win that are pulling the average down below 3, thus we can conclude it isn’t unlikely the away team wins what with the similar point distribution and small margin of victory average.</a:t>
                      </a:r>
                    </a:p>
                  </a:txBody>
                  <a:tcPr/>
                </a:tc>
                <a:extLst>
                  <a:ext uri="{0D108BD9-81ED-4DB2-BD59-A6C34878D82A}">
                    <a16:rowId xmlns:a16="http://schemas.microsoft.com/office/drawing/2014/main" val="1225580648"/>
                  </a:ext>
                </a:extLst>
              </a:tr>
            </a:tbl>
          </a:graphicData>
        </a:graphic>
      </p:graphicFrame>
    </p:spTree>
    <p:extLst>
      <p:ext uri="{BB962C8B-B14F-4D97-AF65-F5344CB8AC3E}">
        <p14:creationId xmlns:p14="http://schemas.microsoft.com/office/powerpoint/2010/main" val="2387915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2391B-95D1-CE24-2DD7-A534F174CF52}"/>
              </a:ext>
            </a:extLst>
          </p:cNvPr>
          <p:cNvSpPr>
            <a:spLocks noGrp="1"/>
          </p:cNvSpPr>
          <p:nvPr>
            <p:ph type="title"/>
          </p:nvPr>
        </p:nvSpPr>
        <p:spPr/>
        <p:txBody>
          <a:bodyPr/>
          <a:lstStyle/>
          <a:p>
            <a:r>
              <a:rPr lang="en-US" dirty="0"/>
              <a:t>Pythagorean Win Percentages</a:t>
            </a:r>
          </a:p>
        </p:txBody>
      </p:sp>
      <p:graphicFrame>
        <p:nvGraphicFramePr>
          <p:cNvPr id="4" name="Content Placeholder 3">
            <a:extLst>
              <a:ext uri="{FF2B5EF4-FFF2-40B4-BE49-F238E27FC236}">
                <a16:creationId xmlns:a16="http://schemas.microsoft.com/office/drawing/2014/main" id="{35B72B5C-A5F2-B021-E5B5-618F9D7C3CC3}"/>
              </a:ext>
            </a:extLst>
          </p:cNvPr>
          <p:cNvGraphicFramePr>
            <a:graphicFrameLocks noGrp="1"/>
          </p:cNvGraphicFramePr>
          <p:nvPr>
            <p:ph idx="1"/>
            <p:extLst>
              <p:ext uri="{D42A27DB-BD31-4B8C-83A1-F6EECF244321}">
                <p14:modId xmlns:p14="http://schemas.microsoft.com/office/powerpoint/2010/main" val="3534621414"/>
              </p:ext>
            </p:extLst>
          </p:nvPr>
        </p:nvGraphicFramePr>
        <p:xfrm>
          <a:off x="1578098" y="2092569"/>
          <a:ext cx="10018704" cy="3337560"/>
        </p:xfrm>
        <a:graphic>
          <a:graphicData uri="http://schemas.openxmlformats.org/drawingml/2006/table">
            <a:tbl>
              <a:tblPr firstRow="1" bandRow="1">
                <a:tableStyleId>{5C22544A-7EE6-4342-B048-85BDC9FD1C3A}</a:tableStyleId>
              </a:tblPr>
              <a:tblGrid>
                <a:gridCol w="834892">
                  <a:extLst>
                    <a:ext uri="{9D8B030D-6E8A-4147-A177-3AD203B41FA5}">
                      <a16:colId xmlns:a16="http://schemas.microsoft.com/office/drawing/2014/main" val="1425324831"/>
                    </a:ext>
                  </a:extLst>
                </a:gridCol>
                <a:gridCol w="834892">
                  <a:extLst>
                    <a:ext uri="{9D8B030D-6E8A-4147-A177-3AD203B41FA5}">
                      <a16:colId xmlns:a16="http://schemas.microsoft.com/office/drawing/2014/main" val="1632717046"/>
                    </a:ext>
                  </a:extLst>
                </a:gridCol>
                <a:gridCol w="834892">
                  <a:extLst>
                    <a:ext uri="{9D8B030D-6E8A-4147-A177-3AD203B41FA5}">
                      <a16:colId xmlns:a16="http://schemas.microsoft.com/office/drawing/2014/main" val="1190018228"/>
                    </a:ext>
                  </a:extLst>
                </a:gridCol>
                <a:gridCol w="834892">
                  <a:extLst>
                    <a:ext uri="{9D8B030D-6E8A-4147-A177-3AD203B41FA5}">
                      <a16:colId xmlns:a16="http://schemas.microsoft.com/office/drawing/2014/main" val="2505190417"/>
                    </a:ext>
                  </a:extLst>
                </a:gridCol>
                <a:gridCol w="834892">
                  <a:extLst>
                    <a:ext uri="{9D8B030D-6E8A-4147-A177-3AD203B41FA5}">
                      <a16:colId xmlns:a16="http://schemas.microsoft.com/office/drawing/2014/main" val="628402099"/>
                    </a:ext>
                  </a:extLst>
                </a:gridCol>
                <a:gridCol w="834892">
                  <a:extLst>
                    <a:ext uri="{9D8B030D-6E8A-4147-A177-3AD203B41FA5}">
                      <a16:colId xmlns:a16="http://schemas.microsoft.com/office/drawing/2014/main" val="3629593240"/>
                    </a:ext>
                  </a:extLst>
                </a:gridCol>
                <a:gridCol w="834892">
                  <a:extLst>
                    <a:ext uri="{9D8B030D-6E8A-4147-A177-3AD203B41FA5}">
                      <a16:colId xmlns:a16="http://schemas.microsoft.com/office/drawing/2014/main" val="1032167493"/>
                    </a:ext>
                  </a:extLst>
                </a:gridCol>
                <a:gridCol w="834892">
                  <a:extLst>
                    <a:ext uri="{9D8B030D-6E8A-4147-A177-3AD203B41FA5}">
                      <a16:colId xmlns:a16="http://schemas.microsoft.com/office/drawing/2014/main" val="3590615946"/>
                    </a:ext>
                  </a:extLst>
                </a:gridCol>
                <a:gridCol w="834892">
                  <a:extLst>
                    <a:ext uri="{9D8B030D-6E8A-4147-A177-3AD203B41FA5}">
                      <a16:colId xmlns:a16="http://schemas.microsoft.com/office/drawing/2014/main" val="591965550"/>
                    </a:ext>
                  </a:extLst>
                </a:gridCol>
                <a:gridCol w="834892">
                  <a:extLst>
                    <a:ext uri="{9D8B030D-6E8A-4147-A177-3AD203B41FA5}">
                      <a16:colId xmlns:a16="http://schemas.microsoft.com/office/drawing/2014/main" val="3812685404"/>
                    </a:ext>
                  </a:extLst>
                </a:gridCol>
                <a:gridCol w="834892">
                  <a:extLst>
                    <a:ext uri="{9D8B030D-6E8A-4147-A177-3AD203B41FA5}">
                      <a16:colId xmlns:a16="http://schemas.microsoft.com/office/drawing/2014/main" val="931782162"/>
                    </a:ext>
                  </a:extLst>
                </a:gridCol>
                <a:gridCol w="834892">
                  <a:extLst>
                    <a:ext uri="{9D8B030D-6E8A-4147-A177-3AD203B41FA5}">
                      <a16:colId xmlns:a16="http://schemas.microsoft.com/office/drawing/2014/main" val="1822566099"/>
                    </a:ext>
                  </a:extLst>
                </a:gridCol>
              </a:tblGrid>
              <a:tr h="370840">
                <a:tc>
                  <a:txBody>
                    <a:bodyPr/>
                    <a:lstStyle/>
                    <a:p>
                      <a:endParaRPr lang="en-US"/>
                    </a:p>
                  </a:txBody>
                  <a:tcPr/>
                </a:tc>
                <a:tc>
                  <a:txBody>
                    <a:bodyPr/>
                    <a:lstStyle/>
                    <a:p>
                      <a:r>
                        <a:rPr lang="en-US" dirty="0" err="1"/>
                        <a:t>wpct</a:t>
                      </a:r>
                      <a:endParaRPr lang="en-US" dirty="0"/>
                    </a:p>
                  </a:txBody>
                  <a:tcPr/>
                </a:tc>
                <a:tc>
                  <a:txBody>
                    <a:bodyPr/>
                    <a:lstStyle/>
                    <a:p>
                      <a:r>
                        <a:rPr lang="en-US" dirty="0" err="1"/>
                        <a:t>pyth</a:t>
                      </a:r>
                      <a:endParaRPr lang="en-US" dirty="0"/>
                    </a:p>
                  </a:txBody>
                  <a:tcPr/>
                </a:tc>
                <a:tc>
                  <a:txBody>
                    <a:bodyPr/>
                    <a:lstStyle/>
                    <a:p>
                      <a:endParaRPr lang="en-US"/>
                    </a:p>
                  </a:txBody>
                  <a:tcPr/>
                </a:tc>
                <a:tc>
                  <a:txBody>
                    <a:bodyPr/>
                    <a:lstStyle/>
                    <a:p>
                      <a:r>
                        <a:rPr lang="en-US" dirty="0" err="1"/>
                        <a:t>wpct</a:t>
                      </a:r>
                      <a:endParaRPr lang="en-US" dirty="0"/>
                    </a:p>
                  </a:txBody>
                  <a:tcPr/>
                </a:tc>
                <a:tc>
                  <a:txBody>
                    <a:bodyPr/>
                    <a:lstStyle/>
                    <a:p>
                      <a:r>
                        <a:rPr lang="en-US" dirty="0" err="1"/>
                        <a:t>pyth</a:t>
                      </a:r>
                      <a:endParaRPr lang="en-US" dirty="0"/>
                    </a:p>
                  </a:txBody>
                  <a:tcPr/>
                </a:tc>
                <a:tc>
                  <a:txBody>
                    <a:bodyPr/>
                    <a:lstStyle/>
                    <a:p>
                      <a:endParaRPr lang="en-US"/>
                    </a:p>
                  </a:txBody>
                  <a:tcPr/>
                </a:tc>
                <a:tc>
                  <a:txBody>
                    <a:bodyPr/>
                    <a:lstStyle/>
                    <a:p>
                      <a:r>
                        <a:rPr lang="en-US" dirty="0" err="1"/>
                        <a:t>wpct</a:t>
                      </a:r>
                      <a:endParaRPr lang="en-US" dirty="0"/>
                    </a:p>
                  </a:txBody>
                  <a:tcPr/>
                </a:tc>
                <a:tc>
                  <a:txBody>
                    <a:bodyPr/>
                    <a:lstStyle/>
                    <a:p>
                      <a:r>
                        <a:rPr lang="en-US" dirty="0" err="1"/>
                        <a:t>pyth</a:t>
                      </a:r>
                      <a:endParaRPr lang="en-US" dirty="0"/>
                    </a:p>
                  </a:txBody>
                  <a:tcPr/>
                </a:tc>
                <a:tc>
                  <a:txBody>
                    <a:bodyPr/>
                    <a:lstStyle/>
                    <a:p>
                      <a:endParaRPr lang="en-US"/>
                    </a:p>
                  </a:txBody>
                  <a:tcPr/>
                </a:tc>
                <a:tc>
                  <a:txBody>
                    <a:bodyPr/>
                    <a:lstStyle/>
                    <a:p>
                      <a:r>
                        <a:rPr lang="en-US" dirty="0" err="1"/>
                        <a:t>wpct</a:t>
                      </a:r>
                      <a:endParaRPr lang="en-US" dirty="0"/>
                    </a:p>
                  </a:txBody>
                  <a:tcPr/>
                </a:tc>
                <a:tc>
                  <a:txBody>
                    <a:bodyPr/>
                    <a:lstStyle/>
                    <a:p>
                      <a:r>
                        <a:rPr lang="en-US" dirty="0" err="1"/>
                        <a:t>pyth</a:t>
                      </a:r>
                      <a:endParaRPr lang="en-US" dirty="0"/>
                    </a:p>
                  </a:txBody>
                  <a:tcPr/>
                </a:tc>
                <a:extLst>
                  <a:ext uri="{0D108BD9-81ED-4DB2-BD59-A6C34878D82A}">
                    <a16:rowId xmlns:a16="http://schemas.microsoft.com/office/drawing/2014/main" val="2395124658"/>
                  </a:ext>
                </a:extLst>
              </a:tr>
              <a:tr h="370840">
                <a:tc>
                  <a:txBody>
                    <a:bodyPr/>
                    <a:lstStyle/>
                    <a:p>
                      <a:r>
                        <a:rPr lang="en-US" sz="1100" dirty="0"/>
                        <a:t>BUF</a:t>
                      </a:r>
                    </a:p>
                  </a:txBody>
                  <a:tcPr marL="83191" marR="83191" marT="41595" marB="41595"/>
                </a:tc>
                <a:tc>
                  <a:txBody>
                    <a:bodyPr/>
                    <a:lstStyle/>
                    <a:p>
                      <a:pPr algn="r"/>
                      <a:r>
                        <a:rPr lang="en-US" sz="1200" dirty="0">
                          <a:effectLst/>
                        </a:rPr>
                        <a:t>0.5625</a:t>
                      </a:r>
                    </a:p>
                  </a:txBody>
                  <a:tcPr marL="38100" marR="38100" marT="30480" marB="30480" anchor="ctr"/>
                </a:tc>
                <a:tc>
                  <a:txBody>
                    <a:bodyPr/>
                    <a:lstStyle/>
                    <a:p>
                      <a:pPr algn="r"/>
                      <a:r>
                        <a:rPr lang="en-US" sz="1200" dirty="0">
                          <a:effectLst/>
                        </a:rPr>
                        <a:t>0.3879970</a:t>
                      </a:r>
                    </a:p>
                  </a:txBody>
                  <a:tcPr marL="38100" marR="38100" marT="30480" marB="30480" anchor="ctr"/>
                </a:tc>
                <a:tc>
                  <a:txBody>
                    <a:bodyPr/>
                    <a:lstStyle/>
                    <a:p>
                      <a:r>
                        <a:rPr lang="en-US" sz="1200" dirty="0"/>
                        <a:t>BAL</a:t>
                      </a:r>
                    </a:p>
                  </a:txBody>
                  <a:tcPr marL="83191" marR="83191" marT="41595" marB="41595"/>
                </a:tc>
                <a:tc>
                  <a:txBody>
                    <a:bodyPr/>
                    <a:lstStyle/>
                    <a:p>
                      <a:pPr algn="r"/>
                      <a:r>
                        <a:rPr lang="en-US" sz="1200">
                          <a:effectLst/>
                        </a:rPr>
                        <a:t>0.5625</a:t>
                      </a:r>
                    </a:p>
                  </a:txBody>
                  <a:tcPr marL="38100" marR="38100" marT="30480" marB="30480" anchor="ctr"/>
                </a:tc>
                <a:tc>
                  <a:txBody>
                    <a:bodyPr/>
                    <a:lstStyle/>
                    <a:p>
                      <a:pPr algn="r"/>
                      <a:r>
                        <a:rPr lang="en-US" sz="1200" dirty="0">
                          <a:effectLst/>
                        </a:rPr>
                        <a:t>0.6679491</a:t>
                      </a:r>
                    </a:p>
                  </a:txBody>
                  <a:tcPr marL="38100" marR="38100" marT="30480" marB="30480" anchor="ctr"/>
                </a:tc>
                <a:tc>
                  <a:txBody>
                    <a:bodyPr/>
                    <a:lstStyle/>
                    <a:p>
                      <a:r>
                        <a:rPr lang="en-US" sz="1200" dirty="0"/>
                        <a:t>HOU</a:t>
                      </a:r>
                    </a:p>
                  </a:txBody>
                  <a:tcPr marL="83191" marR="83191" marT="41595" marB="41595"/>
                </a:tc>
                <a:tc>
                  <a:txBody>
                    <a:bodyPr/>
                    <a:lstStyle/>
                    <a:p>
                      <a:pPr algn="r"/>
                      <a:r>
                        <a:rPr lang="en-US" sz="1200">
                          <a:effectLst/>
                        </a:rPr>
                        <a:t>0.2500</a:t>
                      </a:r>
                    </a:p>
                  </a:txBody>
                  <a:tcPr marL="38100" marR="38100" marT="30480" marB="30480" anchor="ctr"/>
                </a:tc>
                <a:tc>
                  <a:txBody>
                    <a:bodyPr/>
                    <a:lstStyle/>
                    <a:p>
                      <a:pPr algn="r"/>
                      <a:r>
                        <a:rPr lang="en-US" sz="1200" dirty="0">
                          <a:effectLst/>
                        </a:rPr>
                        <a:t>0.3382512</a:t>
                      </a:r>
                    </a:p>
                  </a:txBody>
                  <a:tcPr marL="38100" marR="38100" marT="30480" marB="30480" anchor="ctr"/>
                </a:tc>
                <a:tc>
                  <a:txBody>
                    <a:bodyPr/>
                    <a:lstStyle/>
                    <a:p>
                      <a:r>
                        <a:rPr lang="en-US" sz="1200" dirty="0"/>
                        <a:t>DEN</a:t>
                      </a:r>
                    </a:p>
                  </a:txBody>
                  <a:tcPr marL="83191" marR="83191" marT="41595" marB="41595"/>
                </a:tc>
                <a:tc>
                  <a:txBody>
                    <a:bodyPr/>
                    <a:lstStyle/>
                    <a:p>
                      <a:pPr algn="r"/>
                      <a:r>
                        <a:rPr lang="en-US" sz="1200">
                          <a:effectLst/>
                        </a:rPr>
                        <a:t>0.3125</a:t>
                      </a:r>
                    </a:p>
                  </a:txBody>
                  <a:tcPr marL="38100" marR="38100" marT="30480" marB="30480" anchor="ctr"/>
                </a:tc>
                <a:tc>
                  <a:txBody>
                    <a:bodyPr/>
                    <a:lstStyle/>
                    <a:p>
                      <a:pPr algn="r"/>
                      <a:r>
                        <a:rPr lang="en-US" sz="1200" dirty="0">
                          <a:effectLst/>
                        </a:rPr>
                        <a:t>0.3240093</a:t>
                      </a:r>
                    </a:p>
                  </a:txBody>
                  <a:tcPr marL="38100" marR="38100" marT="30480" marB="30480" anchor="ctr"/>
                </a:tc>
                <a:extLst>
                  <a:ext uri="{0D108BD9-81ED-4DB2-BD59-A6C34878D82A}">
                    <a16:rowId xmlns:a16="http://schemas.microsoft.com/office/drawing/2014/main" val="1608799365"/>
                  </a:ext>
                </a:extLst>
              </a:tr>
              <a:tr h="370840">
                <a:tc>
                  <a:txBody>
                    <a:bodyPr/>
                    <a:lstStyle/>
                    <a:p>
                      <a:r>
                        <a:rPr lang="en-US" sz="1100" dirty="0"/>
                        <a:t>MIA</a:t>
                      </a:r>
                    </a:p>
                  </a:txBody>
                  <a:tcPr marL="83191" marR="83191" marT="41595" marB="41595"/>
                </a:tc>
                <a:tc>
                  <a:txBody>
                    <a:bodyPr/>
                    <a:lstStyle/>
                    <a:p>
                      <a:pPr algn="r"/>
                      <a:r>
                        <a:rPr lang="en-US" sz="1200">
                          <a:effectLst/>
                        </a:rPr>
                        <a:t>0.3750</a:t>
                      </a:r>
                    </a:p>
                  </a:txBody>
                  <a:tcPr marL="38100" marR="38100" marT="30480" marB="30480" anchor="ctr"/>
                </a:tc>
                <a:tc>
                  <a:txBody>
                    <a:bodyPr/>
                    <a:lstStyle/>
                    <a:p>
                      <a:pPr algn="r"/>
                      <a:r>
                        <a:rPr lang="en-US" sz="1200" dirty="0">
                          <a:effectLst/>
                        </a:rPr>
                        <a:t>0.2923011</a:t>
                      </a:r>
                    </a:p>
                  </a:txBody>
                  <a:tcPr marL="38100" marR="38100" marT="30480" marB="30480" anchor="ctr"/>
                </a:tc>
                <a:tc>
                  <a:txBody>
                    <a:bodyPr/>
                    <a:lstStyle/>
                    <a:p>
                      <a:r>
                        <a:rPr lang="en-US" sz="1200" dirty="0"/>
                        <a:t>CIN</a:t>
                      </a:r>
                    </a:p>
                  </a:txBody>
                  <a:tcPr marL="83191" marR="83191" marT="41595" marB="41595"/>
                </a:tc>
                <a:tc>
                  <a:txBody>
                    <a:bodyPr/>
                    <a:lstStyle/>
                    <a:p>
                      <a:pPr algn="r"/>
                      <a:r>
                        <a:rPr lang="en-US" sz="1200">
                          <a:effectLst/>
                        </a:rPr>
                        <a:t>0.4375</a:t>
                      </a:r>
                    </a:p>
                  </a:txBody>
                  <a:tcPr marL="38100" marR="38100" marT="30480" marB="30480" anchor="ctr"/>
                </a:tc>
                <a:tc>
                  <a:txBody>
                    <a:bodyPr/>
                    <a:lstStyle/>
                    <a:p>
                      <a:pPr algn="r"/>
                      <a:r>
                        <a:rPr lang="en-US" sz="1200" dirty="0">
                          <a:effectLst/>
                        </a:rPr>
                        <a:t>0.3803295</a:t>
                      </a:r>
                    </a:p>
                  </a:txBody>
                  <a:tcPr marL="38100" marR="38100" marT="30480" marB="30480" anchor="ctr"/>
                </a:tc>
                <a:tc>
                  <a:txBody>
                    <a:bodyPr/>
                    <a:lstStyle/>
                    <a:p>
                      <a:r>
                        <a:rPr lang="en-US" sz="1200" dirty="0"/>
                        <a:t>IND</a:t>
                      </a:r>
                    </a:p>
                  </a:txBody>
                  <a:tcPr marL="83191" marR="83191" marT="41595" marB="41595"/>
                </a:tc>
                <a:tc>
                  <a:txBody>
                    <a:bodyPr/>
                    <a:lstStyle/>
                    <a:p>
                      <a:pPr algn="r"/>
                      <a:r>
                        <a:rPr lang="en-US" sz="1200">
                          <a:effectLst/>
                        </a:rPr>
                        <a:t>0.2500</a:t>
                      </a:r>
                    </a:p>
                  </a:txBody>
                  <a:tcPr marL="38100" marR="38100" marT="30480" marB="30480" anchor="ctr"/>
                </a:tc>
                <a:tc>
                  <a:txBody>
                    <a:bodyPr/>
                    <a:lstStyle/>
                    <a:p>
                      <a:pPr algn="r"/>
                      <a:r>
                        <a:rPr lang="en-US" sz="1200" dirty="0">
                          <a:effectLst/>
                        </a:rPr>
                        <a:t>0.2438844</a:t>
                      </a:r>
                    </a:p>
                  </a:txBody>
                  <a:tcPr marL="38100" marR="38100" marT="30480" marB="30480" anchor="ctr"/>
                </a:tc>
                <a:tc>
                  <a:txBody>
                    <a:bodyPr/>
                    <a:lstStyle/>
                    <a:p>
                      <a:r>
                        <a:rPr lang="en-US" sz="1200" dirty="0"/>
                        <a:t>KC</a:t>
                      </a:r>
                    </a:p>
                  </a:txBody>
                  <a:tcPr marL="83191" marR="83191" marT="41595" marB="41595"/>
                </a:tc>
                <a:tc>
                  <a:txBody>
                    <a:bodyPr/>
                    <a:lstStyle/>
                    <a:p>
                      <a:pPr algn="r"/>
                      <a:r>
                        <a:rPr lang="en-US" sz="1200">
                          <a:effectLst/>
                        </a:rPr>
                        <a:t>0.6250</a:t>
                      </a:r>
                    </a:p>
                  </a:txBody>
                  <a:tcPr marL="38100" marR="38100" marT="30480" marB="30480" anchor="ctr"/>
                </a:tc>
                <a:tc>
                  <a:txBody>
                    <a:bodyPr/>
                    <a:lstStyle/>
                    <a:p>
                      <a:pPr algn="r"/>
                      <a:r>
                        <a:rPr lang="en-US" sz="1200" dirty="0">
                          <a:effectLst/>
                        </a:rPr>
                        <a:t>0.6302270</a:t>
                      </a:r>
                    </a:p>
                  </a:txBody>
                  <a:tcPr marL="38100" marR="38100" marT="30480" marB="30480" anchor="ctr"/>
                </a:tc>
                <a:extLst>
                  <a:ext uri="{0D108BD9-81ED-4DB2-BD59-A6C34878D82A}">
                    <a16:rowId xmlns:a16="http://schemas.microsoft.com/office/drawing/2014/main" val="1524743810"/>
                  </a:ext>
                </a:extLst>
              </a:tr>
              <a:tr h="370840">
                <a:tc>
                  <a:txBody>
                    <a:bodyPr/>
                    <a:lstStyle/>
                    <a:p>
                      <a:r>
                        <a:rPr lang="en-US" sz="1100" dirty="0"/>
                        <a:t>NE</a:t>
                      </a:r>
                    </a:p>
                  </a:txBody>
                  <a:tcPr marL="83191" marR="83191" marT="41595" marB="41595"/>
                </a:tc>
                <a:tc>
                  <a:txBody>
                    <a:bodyPr/>
                    <a:lstStyle/>
                    <a:p>
                      <a:pPr algn="r"/>
                      <a:r>
                        <a:rPr lang="en-US" sz="1200">
                          <a:effectLst/>
                        </a:rPr>
                        <a:t>0.8125</a:t>
                      </a:r>
                    </a:p>
                  </a:txBody>
                  <a:tcPr marL="38100" marR="38100" marT="30480" marB="30480" anchor="ctr"/>
                </a:tc>
                <a:tc>
                  <a:txBody>
                    <a:bodyPr/>
                    <a:lstStyle/>
                    <a:p>
                      <a:pPr algn="r"/>
                      <a:r>
                        <a:rPr lang="en-US" sz="1200" dirty="0">
                          <a:effectLst/>
                        </a:rPr>
                        <a:t>0.7596218</a:t>
                      </a:r>
                    </a:p>
                  </a:txBody>
                  <a:tcPr marL="38100" marR="38100" marT="30480" marB="30480" anchor="ctr"/>
                </a:tc>
                <a:tc>
                  <a:txBody>
                    <a:bodyPr/>
                    <a:lstStyle/>
                    <a:p>
                      <a:r>
                        <a:rPr lang="en-US" sz="1200" dirty="0"/>
                        <a:t>CLE</a:t>
                      </a:r>
                    </a:p>
                  </a:txBody>
                  <a:tcPr marL="83191" marR="83191" marT="41595" marB="41595"/>
                </a:tc>
                <a:tc>
                  <a:txBody>
                    <a:bodyPr/>
                    <a:lstStyle/>
                    <a:p>
                      <a:pPr algn="r"/>
                      <a:r>
                        <a:rPr lang="en-US" sz="1200" dirty="0">
                          <a:effectLst/>
                        </a:rPr>
                        <a:t>0</a:t>
                      </a:r>
                    </a:p>
                  </a:txBody>
                  <a:tcPr marL="38100" marR="38100" marT="30480" marB="30480" anchor="ctr"/>
                </a:tc>
                <a:tc>
                  <a:txBody>
                    <a:bodyPr/>
                    <a:lstStyle/>
                    <a:p>
                      <a:pPr algn="r"/>
                      <a:r>
                        <a:rPr lang="en-US" sz="1200" b="0" i="0" kern="1200" dirty="0">
                          <a:solidFill>
                            <a:schemeClr val="dk1"/>
                          </a:solidFill>
                          <a:effectLst/>
                          <a:latin typeface="+mn-lt"/>
                          <a:ea typeface="+mn-ea"/>
                          <a:cs typeface="+mn-cs"/>
                        </a:rPr>
                        <a:t>0.185681</a:t>
                      </a:r>
                      <a:r>
                        <a:rPr lang="en-US" sz="1200" dirty="0">
                          <a:effectLst/>
                        </a:rPr>
                        <a:t>0</a:t>
                      </a:r>
                    </a:p>
                  </a:txBody>
                  <a:tcPr marL="38100" marR="38100" marT="30480" marB="30480" anchor="ctr"/>
                </a:tc>
                <a:tc>
                  <a:txBody>
                    <a:bodyPr/>
                    <a:lstStyle/>
                    <a:p>
                      <a:r>
                        <a:rPr lang="en-US" sz="1200" dirty="0"/>
                        <a:t>JAX</a:t>
                      </a:r>
                    </a:p>
                  </a:txBody>
                  <a:tcPr marL="83191" marR="83191" marT="41595" marB="41595"/>
                </a:tc>
                <a:tc>
                  <a:txBody>
                    <a:bodyPr/>
                    <a:lstStyle/>
                    <a:p>
                      <a:pPr algn="r"/>
                      <a:r>
                        <a:rPr lang="en-US" sz="1200">
                          <a:effectLst/>
                        </a:rPr>
                        <a:t>0.6250</a:t>
                      </a:r>
                    </a:p>
                  </a:txBody>
                  <a:tcPr marL="38100" marR="38100" marT="30480" marB="30480" anchor="ctr"/>
                </a:tc>
                <a:tc>
                  <a:txBody>
                    <a:bodyPr/>
                    <a:lstStyle/>
                    <a:p>
                      <a:pPr algn="r"/>
                      <a:r>
                        <a:rPr lang="en-US" sz="1200" dirty="0">
                          <a:effectLst/>
                        </a:rPr>
                        <a:t>0.7623018</a:t>
                      </a:r>
                    </a:p>
                  </a:txBody>
                  <a:tcPr marL="38100" marR="38100" marT="30480" marB="30480" anchor="ctr"/>
                </a:tc>
                <a:tc>
                  <a:txBody>
                    <a:bodyPr/>
                    <a:lstStyle/>
                    <a:p>
                      <a:r>
                        <a:rPr lang="en-US" sz="1200" dirty="0"/>
                        <a:t>LAC</a:t>
                      </a:r>
                    </a:p>
                  </a:txBody>
                  <a:tcPr marL="83191" marR="83191" marT="41595" marB="41595"/>
                </a:tc>
                <a:tc>
                  <a:txBody>
                    <a:bodyPr/>
                    <a:lstStyle/>
                    <a:p>
                      <a:pPr algn="r"/>
                      <a:r>
                        <a:rPr lang="en-US" sz="1200">
                          <a:effectLst/>
                        </a:rPr>
                        <a:t>0.5625</a:t>
                      </a:r>
                    </a:p>
                  </a:txBody>
                  <a:tcPr marL="38100" marR="38100" marT="30480" marB="30480" anchor="ctr"/>
                </a:tc>
                <a:tc>
                  <a:txBody>
                    <a:bodyPr/>
                    <a:lstStyle/>
                    <a:p>
                      <a:pPr algn="r"/>
                      <a:r>
                        <a:rPr lang="en-US" sz="1200" dirty="0">
                          <a:effectLst/>
                        </a:rPr>
                        <a:t>0.6686285</a:t>
                      </a:r>
                    </a:p>
                  </a:txBody>
                  <a:tcPr marL="38100" marR="38100" marT="30480" marB="30480" anchor="ctr"/>
                </a:tc>
                <a:extLst>
                  <a:ext uri="{0D108BD9-81ED-4DB2-BD59-A6C34878D82A}">
                    <a16:rowId xmlns:a16="http://schemas.microsoft.com/office/drawing/2014/main" val="1650158898"/>
                  </a:ext>
                </a:extLst>
              </a:tr>
              <a:tr h="370840">
                <a:tc>
                  <a:txBody>
                    <a:bodyPr/>
                    <a:lstStyle/>
                    <a:p>
                      <a:r>
                        <a:rPr lang="en-US" sz="1100" dirty="0"/>
                        <a:t>NYJ</a:t>
                      </a:r>
                    </a:p>
                  </a:txBody>
                  <a:tcPr marL="83191" marR="83191" marT="41595" marB="41595"/>
                </a:tc>
                <a:tc>
                  <a:txBody>
                    <a:bodyPr/>
                    <a:lstStyle/>
                    <a:p>
                      <a:pPr algn="r"/>
                      <a:r>
                        <a:rPr lang="en-US" sz="1200">
                          <a:effectLst/>
                        </a:rPr>
                        <a:t>0.3125</a:t>
                      </a:r>
                    </a:p>
                  </a:txBody>
                  <a:tcPr marL="38100" marR="38100" marT="30480" marB="30480" anchor="ctr"/>
                </a:tc>
                <a:tc>
                  <a:txBody>
                    <a:bodyPr/>
                    <a:lstStyle/>
                    <a:p>
                      <a:pPr algn="r"/>
                      <a:r>
                        <a:rPr lang="en-US" sz="1200" dirty="0">
                          <a:effectLst/>
                        </a:rPr>
                        <a:t>0.3419600</a:t>
                      </a:r>
                    </a:p>
                  </a:txBody>
                  <a:tcPr marL="38100" marR="38100" marT="30480" marB="30480" anchor="ctr"/>
                </a:tc>
                <a:tc>
                  <a:txBody>
                    <a:bodyPr/>
                    <a:lstStyle/>
                    <a:p>
                      <a:r>
                        <a:rPr lang="en-US" sz="1200" dirty="0">
                          <a:effectLst/>
                        </a:rPr>
                        <a:t>PIT</a:t>
                      </a:r>
                    </a:p>
                  </a:txBody>
                  <a:tcPr marL="38100" marR="38100" marT="30480" marB="30480" anchor="ctr"/>
                </a:tc>
                <a:tc>
                  <a:txBody>
                    <a:bodyPr/>
                    <a:lstStyle/>
                    <a:p>
                      <a:pPr algn="r"/>
                      <a:r>
                        <a:rPr lang="en-US" sz="1200">
                          <a:effectLst/>
                        </a:rPr>
                        <a:t>0.8125</a:t>
                      </a:r>
                    </a:p>
                  </a:txBody>
                  <a:tcPr marL="38100" marR="38100" marT="30480" marB="30480" anchor="ctr"/>
                </a:tc>
                <a:tc>
                  <a:txBody>
                    <a:bodyPr/>
                    <a:lstStyle/>
                    <a:p>
                      <a:pPr algn="r"/>
                      <a:r>
                        <a:rPr lang="en-US" sz="1200" dirty="0">
                          <a:effectLst/>
                        </a:rPr>
                        <a:t>0.6744065</a:t>
                      </a:r>
                    </a:p>
                  </a:txBody>
                  <a:tcPr marL="38100" marR="38100" marT="30480" marB="30480" anchor="ctr"/>
                </a:tc>
                <a:tc>
                  <a:txBody>
                    <a:bodyPr/>
                    <a:lstStyle/>
                    <a:p>
                      <a:r>
                        <a:rPr lang="en-US" sz="1200" dirty="0"/>
                        <a:t>TEN</a:t>
                      </a:r>
                    </a:p>
                  </a:txBody>
                  <a:tcPr marL="83191" marR="83191" marT="41595" marB="41595"/>
                </a:tc>
                <a:tc>
                  <a:txBody>
                    <a:bodyPr/>
                    <a:lstStyle/>
                    <a:p>
                      <a:pPr algn="r"/>
                      <a:r>
                        <a:rPr lang="en-US" sz="1200" dirty="0">
                          <a:effectLst/>
                        </a:rPr>
                        <a:t>0.5625</a:t>
                      </a:r>
                    </a:p>
                  </a:txBody>
                  <a:tcPr marL="38100" marR="38100" marT="30480" marB="30480" anchor="ctr"/>
                </a:tc>
                <a:tc>
                  <a:txBody>
                    <a:bodyPr/>
                    <a:lstStyle/>
                    <a:p>
                      <a:pPr algn="r"/>
                      <a:r>
                        <a:rPr lang="en-US" sz="1200" dirty="0">
                          <a:effectLst/>
                        </a:rPr>
                        <a:t>0.4580625</a:t>
                      </a:r>
                    </a:p>
                  </a:txBody>
                  <a:tcPr marL="38100" marR="38100" marT="30480" marB="30480" anchor="ctr"/>
                </a:tc>
                <a:tc>
                  <a:txBody>
                    <a:bodyPr/>
                    <a:lstStyle/>
                    <a:p>
                      <a:r>
                        <a:rPr lang="en-US" sz="1200" dirty="0"/>
                        <a:t>LV</a:t>
                      </a:r>
                    </a:p>
                  </a:txBody>
                  <a:tcPr marL="83191" marR="83191" marT="41595" marB="41595"/>
                </a:tc>
                <a:tc>
                  <a:txBody>
                    <a:bodyPr/>
                    <a:lstStyle/>
                    <a:p>
                      <a:pPr algn="r"/>
                      <a:r>
                        <a:rPr lang="en-US" sz="1200">
                          <a:effectLst/>
                        </a:rPr>
                        <a:t>0.3750</a:t>
                      </a:r>
                    </a:p>
                  </a:txBody>
                  <a:tcPr marL="38100" marR="38100" marT="30480" marB="30480" anchor="ctr"/>
                </a:tc>
                <a:tc>
                  <a:txBody>
                    <a:bodyPr/>
                    <a:lstStyle/>
                    <a:p>
                      <a:pPr algn="r"/>
                      <a:r>
                        <a:rPr lang="en-US" sz="1200" dirty="0">
                          <a:effectLst/>
                        </a:rPr>
                        <a:t>0.3623169</a:t>
                      </a:r>
                    </a:p>
                  </a:txBody>
                  <a:tcPr marL="38100" marR="38100" marT="30480" marB="30480" anchor="ctr"/>
                </a:tc>
                <a:extLst>
                  <a:ext uri="{0D108BD9-81ED-4DB2-BD59-A6C34878D82A}">
                    <a16:rowId xmlns:a16="http://schemas.microsoft.com/office/drawing/2014/main" val="2421458256"/>
                  </a:ext>
                </a:extLst>
              </a:tr>
              <a:tr h="370840">
                <a:tc>
                  <a:txBody>
                    <a:bodyPr/>
                    <a:lstStyle/>
                    <a:p>
                      <a:r>
                        <a:rPr lang="en-US" sz="1100" dirty="0"/>
                        <a:t>DAL</a:t>
                      </a:r>
                    </a:p>
                  </a:txBody>
                  <a:tcPr marL="83191" marR="83191" marT="41595" marB="41595"/>
                </a:tc>
                <a:tc>
                  <a:txBody>
                    <a:bodyPr/>
                    <a:lstStyle/>
                    <a:p>
                      <a:pPr algn="r"/>
                      <a:r>
                        <a:rPr lang="en-US" sz="1200">
                          <a:effectLst/>
                        </a:rPr>
                        <a:t>0.5625</a:t>
                      </a:r>
                    </a:p>
                  </a:txBody>
                  <a:tcPr marL="38100" marR="38100" marT="30480" marB="30480" anchor="ctr"/>
                </a:tc>
                <a:tc>
                  <a:txBody>
                    <a:bodyPr/>
                    <a:lstStyle/>
                    <a:p>
                      <a:pPr algn="r"/>
                      <a:r>
                        <a:rPr lang="en-US" sz="1200" dirty="0">
                          <a:effectLst/>
                        </a:rPr>
                        <a:t>0.5421810</a:t>
                      </a:r>
                    </a:p>
                  </a:txBody>
                  <a:tcPr marL="38100" marR="38100" marT="30480" marB="30480" anchor="ctr"/>
                </a:tc>
                <a:tc>
                  <a:txBody>
                    <a:bodyPr/>
                    <a:lstStyle/>
                    <a:p>
                      <a:r>
                        <a:rPr lang="en-US" sz="1200" dirty="0"/>
                        <a:t>CHI</a:t>
                      </a:r>
                    </a:p>
                  </a:txBody>
                  <a:tcPr marL="83191" marR="83191" marT="41595" marB="41595"/>
                </a:tc>
                <a:tc>
                  <a:txBody>
                    <a:bodyPr/>
                    <a:lstStyle/>
                    <a:p>
                      <a:pPr algn="r"/>
                      <a:r>
                        <a:rPr lang="en-US" sz="1200">
                          <a:effectLst/>
                        </a:rPr>
                        <a:t>0.3125</a:t>
                      </a:r>
                    </a:p>
                  </a:txBody>
                  <a:tcPr marL="38100" marR="38100" marT="30480" marB="30480" anchor="ctr"/>
                </a:tc>
                <a:tc>
                  <a:txBody>
                    <a:bodyPr/>
                    <a:lstStyle/>
                    <a:p>
                      <a:pPr algn="r"/>
                      <a:r>
                        <a:rPr lang="en-US" sz="1200" dirty="0">
                          <a:effectLst/>
                        </a:rPr>
                        <a:t>0.3758787</a:t>
                      </a:r>
                    </a:p>
                  </a:txBody>
                  <a:tcPr marL="38100" marR="38100" marT="30480" marB="30480" anchor="ctr"/>
                </a:tc>
                <a:tc>
                  <a:txBody>
                    <a:bodyPr/>
                    <a:lstStyle/>
                    <a:p>
                      <a:r>
                        <a:rPr lang="en-US" sz="1200" dirty="0"/>
                        <a:t>ATL</a:t>
                      </a:r>
                    </a:p>
                  </a:txBody>
                  <a:tcPr marL="83191" marR="83191" marT="41595" marB="41595"/>
                </a:tc>
                <a:tc>
                  <a:txBody>
                    <a:bodyPr/>
                    <a:lstStyle/>
                    <a:p>
                      <a:pPr algn="r"/>
                      <a:r>
                        <a:rPr lang="en-US" sz="1200" dirty="0">
                          <a:effectLst/>
                        </a:rPr>
                        <a:t>0.6250</a:t>
                      </a:r>
                    </a:p>
                  </a:txBody>
                  <a:tcPr marL="38100" marR="38100" marT="30480" marB="30480" anchor="ctr"/>
                </a:tc>
                <a:tc>
                  <a:txBody>
                    <a:bodyPr/>
                    <a:lstStyle/>
                    <a:p>
                      <a:pPr algn="r"/>
                      <a:r>
                        <a:rPr lang="en-US" sz="1200" dirty="0">
                          <a:effectLst/>
                        </a:rPr>
                        <a:t>0.5744963</a:t>
                      </a:r>
                    </a:p>
                  </a:txBody>
                  <a:tcPr marL="38100" marR="38100" marT="30480" marB="30480" anchor="ctr"/>
                </a:tc>
                <a:tc>
                  <a:txBody>
                    <a:bodyPr/>
                    <a:lstStyle/>
                    <a:p>
                      <a:r>
                        <a:rPr lang="en-US" sz="1200" dirty="0"/>
                        <a:t>ARZ</a:t>
                      </a:r>
                    </a:p>
                  </a:txBody>
                  <a:tcPr marL="83191" marR="83191" marT="41595" marB="41595"/>
                </a:tc>
                <a:tc>
                  <a:txBody>
                    <a:bodyPr/>
                    <a:lstStyle/>
                    <a:p>
                      <a:pPr algn="r"/>
                      <a:r>
                        <a:rPr lang="en-US" sz="1200" dirty="0">
                          <a:effectLst/>
                        </a:rPr>
                        <a:t>0.5000</a:t>
                      </a:r>
                    </a:p>
                  </a:txBody>
                  <a:tcPr marL="38100" marR="38100" marT="30480" marB="30480" anchor="ctr"/>
                </a:tc>
                <a:tc>
                  <a:txBody>
                    <a:bodyPr/>
                    <a:lstStyle/>
                    <a:p>
                      <a:pPr algn="r"/>
                      <a:r>
                        <a:rPr lang="en-US" sz="1200" dirty="0">
                          <a:effectLst/>
                        </a:rPr>
                        <a:t>0.3700038</a:t>
                      </a:r>
                    </a:p>
                  </a:txBody>
                  <a:tcPr marL="38100" marR="38100" marT="30480" marB="30480" anchor="ctr"/>
                </a:tc>
                <a:extLst>
                  <a:ext uri="{0D108BD9-81ED-4DB2-BD59-A6C34878D82A}">
                    <a16:rowId xmlns:a16="http://schemas.microsoft.com/office/drawing/2014/main" val="735356923"/>
                  </a:ext>
                </a:extLst>
              </a:tr>
              <a:tr h="370840">
                <a:tc>
                  <a:txBody>
                    <a:bodyPr/>
                    <a:lstStyle/>
                    <a:p>
                      <a:r>
                        <a:rPr lang="en-US" sz="1100" dirty="0"/>
                        <a:t>NYG</a:t>
                      </a:r>
                    </a:p>
                  </a:txBody>
                  <a:tcPr marL="83191" marR="83191" marT="41595" marB="41595"/>
                </a:tc>
                <a:tc>
                  <a:txBody>
                    <a:bodyPr/>
                    <a:lstStyle/>
                    <a:p>
                      <a:pPr algn="r"/>
                      <a:r>
                        <a:rPr lang="en-US" sz="1200">
                          <a:effectLst/>
                        </a:rPr>
                        <a:t>0.1875</a:t>
                      </a:r>
                    </a:p>
                  </a:txBody>
                  <a:tcPr marL="38100" marR="38100" marT="30480" marB="30480" anchor="ctr"/>
                </a:tc>
                <a:tc>
                  <a:txBody>
                    <a:bodyPr/>
                    <a:lstStyle/>
                    <a:p>
                      <a:pPr algn="r"/>
                      <a:r>
                        <a:rPr lang="en-US" sz="1200" dirty="0">
                          <a:effectLst/>
                        </a:rPr>
                        <a:t>0.2312756</a:t>
                      </a:r>
                    </a:p>
                  </a:txBody>
                  <a:tcPr marL="38100" marR="38100" marT="30480" marB="30480" anchor="ctr"/>
                </a:tc>
                <a:tc>
                  <a:txBody>
                    <a:bodyPr/>
                    <a:lstStyle/>
                    <a:p>
                      <a:r>
                        <a:rPr lang="en-US" sz="1200" dirty="0"/>
                        <a:t>DET</a:t>
                      </a:r>
                    </a:p>
                  </a:txBody>
                  <a:tcPr marL="83191" marR="83191" marT="41595" marB="41595"/>
                </a:tc>
                <a:tc>
                  <a:txBody>
                    <a:bodyPr/>
                    <a:lstStyle/>
                    <a:p>
                      <a:pPr algn="r"/>
                      <a:r>
                        <a:rPr lang="en-US" sz="1200">
                          <a:effectLst/>
                        </a:rPr>
                        <a:t>0.5625</a:t>
                      </a:r>
                    </a:p>
                  </a:txBody>
                  <a:tcPr marL="38100" marR="38100" marT="30480" marB="30480" anchor="ctr"/>
                </a:tc>
                <a:tc>
                  <a:txBody>
                    <a:bodyPr/>
                    <a:lstStyle/>
                    <a:p>
                      <a:pPr algn="r"/>
                      <a:r>
                        <a:rPr lang="en-US" sz="1200" dirty="0">
                          <a:effectLst/>
                        </a:rPr>
                        <a:t>0.5568005</a:t>
                      </a:r>
                    </a:p>
                  </a:txBody>
                  <a:tcPr marL="38100" marR="38100" marT="30480" marB="30480" anchor="ctr"/>
                </a:tc>
                <a:tc>
                  <a:txBody>
                    <a:bodyPr/>
                    <a:lstStyle/>
                    <a:p>
                      <a:r>
                        <a:rPr lang="en-US" sz="1200" dirty="0"/>
                        <a:t>CAR</a:t>
                      </a:r>
                    </a:p>
                  </a:txBody>
                  <a:tcPr marL="83191" marR="83191" marT="41595" marB="41595"/>
                </a:tc>
                <a:tc>
                  <a:txBody>
                    <a:bodyPr/>
                    <a:lstStyle/>
                    <a:p>
                      <a:pPr algn="r"/>
                      <a:r>
                        <a:rPr lang="en-US" sz="1200" dirty="0">
                          <a:effectLst/>
                        </a:rPr>
                        <a:t>0.6875</a:t>
                      </a:r>
                    </a:p>
                  </a:txBody>
                  <a:tcPr marL="38100" marR="38100" marT="30480" marB="30480" anchor="ctr"/>
                </a:tc>
                <a:tc>
                  <a:txBody>
                    <a:bodyPr/>
                    <a:lstStyle/>
                    <a:p>
                      <a:pPr algn="r"/>
                      <a:r>
                        <a:rPr lang="en-US" sz="1200" dirty="0">
                          <a:effectLst/>
                        </a:rPr>
                        <a:t>0.5683943</a:t>
                      </a:r>
                    </a:p>
                  </a:txBody>
                  <a:tcPr marL="38100" marR="38100" marT="30480" marB="30480" anchor="ctr"/>
                </a:tc>
                <a:tc>
                  <a:txBody>
                    <a:bodyPr/>
                    <a:lstStyle/>
                    <a:p>
                      <a:r>
                        <a:rPr lang="en-US" sz="1200" dirty="0"/>
                        <a:t>LAR</a:t>
                      </a:r>
                    </a:p>
                  </a:txBody>
                  <a:tcPr marL="83191" marR="83191" marT="41595" marB="41595"/>
                </a:tc>
                <a:tc>
                  <a:txBody>
                    <a:bodyPr/>
                    <a:lstStyle/>
                    <a:p>
                      <a:pPr algn="r"/>
                      <a:r>
                        <a:rPr lang="en-US" sz="1200">
                          <a:effectLst/>
                        </a:rPr>
                        <a:t>0.6875</a:t>
                      </a:r>
                    </a:p>
                  </a:txBody>
                  <a:tcPr marL="38100" marR="38100" marT="30480" marB="30480" anchor="ctr"/>
                </a:tc>
                <a:tc>
                  <a:txBody>
                    <a:bodyPr/>
                    <a:lstStyle/>
                    <a:p>
                      <a:pPr algn="r"/>
                      <a:r>
                        <a:rPr lang="en-US" sz="1200" dirty="0">
                          <a:effectLst/>
                        </a:rPr>
                        <a:t>0.7280315</a:t>
                      </a:r>
                    </a:p>
                  </a:txBody>
                  <a:tcPr marL="38100" marR="38100" marT="30480" marB="30480" anchor="ctr"/>
                </a:tc>
                <a:extLst>
                  <a:ext uri="{0D108BD9-81ED-4DB2-BD59-A6C34878D82A}">
                    <a16:rowId xmlns:a16="http://schemas.microsoft.com/office/drawing/2014/main" val="1948448077"/>
                  </a:ext>
                </a:extLst>
              </a:tr>
              <a:tr h="370840">
                <a:tc>
                  <a:txBody>
                    <a:bodyPr/>
                    <a:lstStyle/>
                    <a:p>
                      <a:r>
                        <a:rPr lang="en-US" sz="1100" dirty="0"/>
                        <a:t>PHI</a:t>
                      </a:r>
                    </a:p>
                  </a:txBody>
                  <a:tcPr marL="83191" marR="83191" marT="41595" marB="41595"/>
                </a:tc>
                <a:tc>
                  <a:txBody>
                    <a:bodyPr/>
                    <a:lstStyle/>
                    <a:p>
                      <a:pPr algn="r"/>
                      <a:r>
                        <a:rPr lang="en-US" sz="1200">
                          <a:effectLst/>
                        </a:rPr>
                        <a:t>0.8125</a:t>
                      </a:r>
                    </a:p>
                  </a:txBody>
                  <a:tcPr marL="38100" marR="38100" marT="30480" marB="30480" anchor="ctr"/>
                </a:tc>
                <a:tc>
                  <a:txBody>
                    <a:bodyPr/>
                    <a:lstStyle/>
                    <a:p>
                      <a:pPr algn="r"/>
                      <a:r>
                        <a:rPr lang="en-US" sz="1200" dirty="0">
                          <a:effectLst/>
                        </a:rPr>
                        <a:t>0.7601981</a:t>
                      </a:r>
                    </a:p>
                  </a:txBody>
                  <a:tcPr marL="38100" marR="38100" marT="30480" marB="30480" anchor="ctr"/>
                </a:tc>
                <a:tc>
                  <a:txBody>
                    <a:bodyPr/>
                    <a:lstStyle/>
                    <a:p>
                      <a:r>
                        <a:rPr lang="en-US" sz="1200" dirty="0"/>
                        <a:t>GB</a:t>
                      </a:r>
                    </a:p>
                  </a:txBody>
                  <a:tcPr marL="83191" marR="83191" marT="41595" marB="41595"/>
                </a:tc>
                <a:tc>
                  <a:txBody>
                    <a:bodyPr/>
                    <a:lstStyle/>
                    <a:p>
                      <a:pPr algn="r"/>
                      <a:r>
                        <a:rPr lang="en-US" sz="1200">
                          <a:effectLst/>
                        </a:rPr>
                        <a:t>0.4375</a:t>
                      </a:r>
                    </a:p>
                  </a:txBody>
                  <a:tcPr marL="38100" marR="38100" marT="30480" marB="30480" anchor="ctr"/>
                </a:tc>
                <a:tc>
                  <a:txBody>
                    <a:bodyPr/>
                    <a:lstStyle/>
                    <a:p>
                      <a:pPr algn="r"/>
                      <a:r>
                        <a:rPr lang="en-US" sz="1200" dirty="0">
                          <a:effectLst/>
                        </a:rPr>
                        <a:t>0.3821137</a:t>
                      </a:r>
                    </a:p>
                  </a:txBody>
                  <a:tcPr marL="38100" marR="38100" marT="30480" marB="30480" anchor="ctr"/>
                </a:tc>
                <a:tc>
                  <a:txBody>
                    <a:bodyPr/>
                    <a:lstStyle/>
                    <a:p>
                      <a:r>
                        <a:rPr lang="en-US" sz="1200" dirty="0"/>
                        <a:t>NO</a:t>
                      </a:r>
                    </a:p>
                  </a:txBody>
                  <a:tcPr marL="83191" marR="83191" marT="41595" marB="41595"/>
                </a:tc>
                <a:tc>
                  <a:txBody>
                    <a:bodyPr/>
                    <a:lstStyle/>
                    <a:p>
                      <a:pPr algn="r"/>
                      <a:r>
                        <a:rPr lang="en-US" sz="1200">
                          <a:effectLst/>
                        </a:rPr>
                        <a:t>0.6875</a:t>
                      </a:r>
                    </a:p>
                  </a:txBody>
                  <a:tcPr marL="38100" marR="38100" marT="30480" marB="30480" anchor="ctr"/>
                </a:tc>
                <a:tc>
                  <a:txBody>
                    <a:bodyPr/>
                    <a:lstStyle/>
                    <a:p>
                      <a:pPr algn="r"/>
                      <a:r>
                        <a:rPr lang="en-US" sz="1200" dirty="0">
                          <a:effectLst/>
                        </a:rPr>
                        <a:t>0.6980333</a:t>
                      </a:r>
                    </a:p>
                  </a:txBody>
                  <a:tcPr marL="38100" marR="38100" marT="30480" marB="30480" anchor="ctr"/>
                </a:tc>
                <a:tc>
                  <a:txBody>
                    <a:bodyPr/>
                    <a:lstStyle/>
                    <a:p>
                      <a:r>
                        <a:rPr lang="en-US" sz="1200" dirty="0"/>
                        <a:t>SF</a:t>
                      </a:r>
                    </a:p>
                  </a:txBody>
                  <a:tcPr marL="83191" marR="83191" marT="41595" marB="41595"/>
                </a:tc>
                <a:tc>
                  <a:txBody>
                    <a:bodyPr/>
                    <a:lstStyle/>
                    <a:p>
                      <a:pPr algn="r"/>
                      <a:r>
                        <a:rPr lang="en-US" sz="1200" dirty="0">
                          <a:effectLst/>
                        </a:rPr>
                        <a:t>0.3750</a:t>
                      </a:r>
                    </a:p>
                  </a:txBody>
                  <a:tcPr marL="38100" marR="38100" marT="30480" marB="30480" anchor="ctr"/>
                </a:tc>
                <a:tc>
                  <a:txBody>
                    <a:bodyPr/>
                    <a:lstStyle/>
                    <a:p>
                      <a:pPr algn="r"/>
                      <a:r>
                        <a:rPr lang="en-US" sz="1200" dirty="0">
                          <a:effectLst/>
                        </a:rPr>
                        <a:t>0.4050118</a:t>
                      </a:r>
                    </a:p>
                  </a:txBody>
                  <a:tcPr marL="38100" marR="38100" marT="30480" marB="30480" anchor="ctr"/>
                </a:tc>
                <a:extLst>
                  <a:ext uri="{0D108BD9-81ED-4DB2-BD59-A6C34878D82A}">
                    <a16:rowId xmlns:a16="http://schemas.microsoft.com/office/drawing/2014/main" val="3046788305"/>
                  </a:ext>
                </a:extLst>
              </a:tr>
              <a:tr h="370840">
                <a:tc>
                  <a:txBody>
                    <a:bodyPr/>
                    <a:lstStyle/>
                    <a:p>
                      <a:r>
                        <a:rPr lang="en-US" sz="1100" dirty="0"/>
                        <a:t>WAS</a:t>
                      </a:r>
                    </a:p>
                  </a:txBody>
                  <a:tcPr marL="83191" marR="83191" marT="41595" marB="41595"/>
                </a:tc>
                <a:tc>
                  <a:txBody>
                    <a:bodyPr/>
                    <a:lstStyle/>
                    <a:p>
                      <a:pPr algn="r"/>
                      <a:r>
                        <a:rPr lang="en-US" sz="1200">
                          <a:effectLst/>
                        </a:rPr>
                        <a:t>0.4375</a:t>
                      </a:r>
                    </a:p>
                  </a:txBody>
                  <a:tcPr marL="38100" marR="38100" marT="30480" marB="30480" anchor="ctr"/>
                </a:tc>
                <a:tc>
                  <a:txBody>
                    <a:bodyPr/>
                    <a:lstStyle/>
                    <a:p>
                      <a:pPr algn="r"/>
                      <a:r>
                        <a:rPr lang="en-US" sz="1200" dirty="0">
                          <a:effectLst/>
                        </a:rPr>
                        <a:t>0.4175985</a:t>
                      </a:r>
                    </a:p>
                  </a:txBody>
                  <a:tcPr marL="38100" marR="38100" marT="30480" marB="30480" anchor="ctr"/>
                </a:tc>
                <a:tc>
                  <a:txBody>
                    <a:bodyPr/>
                    <a:lstStyle/>
                    <a:p>
                      <a:r>
                        <a:rPr lang="en-US" sz="1200" dirty="0"/>
                        <a:t>MIN</a:t>
                      </a:r>
                    </a:p>
                  </a:txBody>
                  <a:tcPr marL="83191" marR="83191" marT="41595" marB="41595"/>
                </a:tc>
                <a:tc>
                  <a:txBody>
                    <a:bodyPr/>
                    <a:lstStyle/>
                    <a:p>
                      <a:pPr algn="r"/>
                      <a:r>
                        <a:rPr lang="en-US" sz="1200">
                          <a:effectLst/>
                        </a:rPr>
                        <a:t>0.8125</a:t>
                      </a:r>
                    </a:p>
                  </a:txBody>
                  <a:tcPr marL="38100" marR="38100" marT="30480" marB="30480" anchor="ctr"/>
                </a:tc>
                <a:tc>
                  <a:txBody>
                    <a:bodyPr/>
                    <a:lstStyle/>
                    <a:p>
                      <a:pPr algn="r"/>
                      <a:r>
                        <a:rPr lang="en-US" sz="1200" dirty="0">
                          <a:effectLst/>
                        </a:rPr>
                        <a:t>0.7496080</a:t>
                      </a:r>
                    </a:p>
                  </a:txBody>
                  <a:tcPr marL="38100" marR="38100" marT="30480" marB="30480" anchor="ctr"/>
                </a:tc>
                <a:tc>
                  <a:txBody>
                    <a:bodyPr/>
                    <a:lstStyle/>
                    <a:p>
                      <a:r>
                        <a:rPr lang="en-US" sz="1200" dirty="0"/>
                        <a:t>TB</a:t>
                      </a:r>
                    </a:p>
                  </a:txBody>
                  <a:tcPr marL="83191" marR="83191" marT="41595" marB="41595"/>
                </a:tc>
                <a:tc>
                  <a:txBody>
                    <a:bodyPr/>
                    <a:lstStyle/>
                    <a:p>
                      <a:pPr algn="r"/>
                      <a:r>
                        <a:rPr lang="en-US" sz="1200" dirty="0">
                          <a:effectLst/>
                        </a:rPr>
                        <a:t>0.3125</a:t>
                      </a:r>
                    </a:p>
                  </a:txBody>
                  <a:tcPr marL="38100" marR="38100" marT="30480" marB="30480" anchor="ctr"/>
                </a:tc>
                <a:tc>
                  <a:txBody>
                    <a:bodyPr/>
                    <a:lstStyle/>
                    <a:p>
                      <a:pPr algn="r"/>
                      <a:r>
                        <a:rPr lang="en-US" sz="1200" dirty="0">
                          <a:effectLst/>
                        </a:rPr>
                        <a:t>0.4143355</a:t>
                      </a:r>
                    </a:p>
                  </a:txBody>
                  <a:tcPr marL="38100" marR="38100" marT="30480" marB="30480" anchor="ctr"/>
                </a:tc>
                <a:tc>
                  <a:txBody>
                    <a:bodyPr/>
                    <a:lstStyle/>
                    <a:p>
                      <a:r>
                        <a:rPr lang="en-US" sz="1200" dirty="0"/>
                        <a:t>SEA</a:t>
                      </a:r>
                    </a:p>
                  </a:txBody>
                  <a:tcPr marL="83191" marR="83191" marT="41595" marB="41595"/>
                </a:tc>
                <a:tc>
                  <a:txBody>
                    <a:bodyPr/>
                    <a:lstStyle/>
                    <a:p>
                      <a:pPr algn="r"/>
                      <a:r>
                        <a:rPr lang="en-US" sz="1200">
                          <a:effectLst/>
                        </a:rPr>
                        <a:t>0.5625</a:t>
                      </a:r>
                    </a:p>
                  </a:txBody>
                  <a:tcPr marL="38100" marR="38100" marT="30480" marB="30480" anchor="ctr"/>
                </a:tc>
                <a:tc>
                  <a:txBody>
                    <a:bodyPr/>
                    <a:lstStyle/>
                    <a:p>
                      <a:pPr algn="r"/>
                      <a:r>
                        <a:rPr lang="en-US" sz="1200" dirty="0">
                          <a:effectLst/>
                        </a:rPr>
                        <a:t>0.5638983</a:t>
                      </a:r>
                    </a:p>
                  </a:txBody>
                  <a:tcPr marL="38100" marR="38100" marT="30480" marB="30480" anchor="ctr"/>
                </a:tc>
                <a:extLst>
                  <a:ext uri="{0D108BD9-81ED-4DB2-BD59-A6C34878D82A}">
                    <a16:rowId xmlns:a16="http://schemas.microsoft.com/office/drawing/2014/main" val="232883095"/>
                  </a:ext>
                </a:extLst>
              </a:tr>
            </a:tbl>
          </a:graphicData>
        </a:graphic>
      </p:graphicFrame>
      <p:sp>
        <p:nvSpPr>
          <p:cNvPr id="5" name="TextBox 4">
            <a:extLst>
              <a:ext uri="{FF2B5EF4-FFF2-40B4-BE49-F238E27FC236}">
                <a16:creationId xmlns:a16="http://schemas.microsoft.com/office/drawing/2014/main" id="{A380C6BE-711C-5CA6-ED2D-6746240B7A19}"/>
              </a:ext>
            </a:extLst>
          </p:cNvPr>
          <p:cNvSpPr txBox="1"/>
          <p:nvPr/>
        </p:nvSpPr>
        <p:spPr>
          <a:xfrm>
            <a:off x="1578098" y="5430129"/>
            <a:ext cx="10215040" cy="461665"/>
          </a:xfrm>
          <a:prstGeom prst="rect">
            <a:avLst/>
          </a:prstGeom>
          <a:noFill/>
        </p:spPr>
        <p:txBody>
          <a:bodyPr wrap="none" rtlCol="0">
            <a:spAutoFit/>
          </a:bodyPr>
          <a:lstStyle/>
          <a:p>
            <a:r>
              <a:rPr lang="en-US" sz="2400" dirty="0"/>
              <a:t>*Correlation between win percentage and Pythagorean win percentage = 0.903</a:t>
            </a:r>
          </a:p>
        </p:txBody>
      </p:sp>
    </p:spTree>
    <p:extLst>
      <p:ext uri="{BB962C8B-B14F-4D97-AF65-F5344CB8AC3E}">
        <p14:creationId xmlns:p14="http://schemas.microsoft.com/office/powerpoint/2010/main" val="3731705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53C5-2998-A7D3-1C09-A3665D62093B}"/>
              </a:ext>
            </a:extLst>
          </p:cNvPr>
          <p:cNvSpPr>
            <a:spLocks noGrp="1"/>
          </p:cNvSpPr>
          <p:nvPr>
            <p:ph type="title"/>
          </p:nvPr>
        </p:nvSpPr>
        <p:spPr/>
        <p:txBody>
          <a:bodyPr/>
          <a:lstStyle/>
          <a:p>
            <a:r>
              <a:rPr lang="en-US" dirty="0"/>
              <a:t>Pythagorean Win Percentages Discussion</a:t>
            </a:r>
          </a:p>
        </p:txBody>
      </p:sp>
      <p:sp>
        <p:nvSpPr>
          <p:cNvPr id="3" name="Content Placeholder 2">
            <a:extLst>
              <a:ext uri="{FF2B5EF4-FFF2-40B4-BE49-F238E27FC236}">
                <a16:creationId xmlns:a16="http://schemas.microsoft.com/office/drawing/2014/main" id="{74DE3795-0150-65AB-12A7-9FE420BEC7F9}"/>
              </a:ext>
            </a:extLst>
          </p:cNvPr>
          <p:cNvSpPr>
            <a:spLocks noGrp="1"/>
          </p:cNvSpPr>
          <p:nvPr>
            <p:ph idx="1"/>
          </p:nvPr>
        </p:nvSpPr>
        <p:spPr/>
        <p:txBody>
          <a:bodyPr>
            <a:normAutofit/>
          </a:bodyPr>
          <a:lstStyle/>
          <a:p>
            <a:pPr marL="0" indent="0">
              <a:buNone/>
            </a:pPr>
            <a:r>
              <a:rPr lang="en-US" sz="1600" dirty="0"/>
              <a:t>According to the Pythagorean win percentage data, there is a very strong, positive correlation between actual win percentage and Pythagorean win percentage (r = 0.909). This suggests that in general, the Pythagorean win percentages did a very good job at predicting a team’s actual win percentage in 2017. The team with the highest Pythagorean win percentage, or the team that was predicted to win the most games out of 17, was the Jacksonville Jaguars at about 0.72, closely trailed by the Philadelphia Eagles at 0.70. The team that was predicted to win the least games was the Cleveland Browns who had a Pythagorean win percentage of 0.18. The Buffalo Bills were the most overachieving team with an actual win percentage 0.17 greater than their Pythagorean win percentage. The Cleveland Browns were the most underachieving team with an actual win percentage 0.18 less than their Pythagorean win percentage. This is especially interesting because the 2017 season had the Browns ending with a 0.0 actual win percentage, thus it would have been essentially impossible to accurately predict their win percentage using Pythagorean win percentages.</a:t>
            </a:r>
          </a:p>
        </p:txBody>
      </p:sp>
    </p:spTree>
    <p:extLst>
      <p:ext uri="{BB962C8B-B14F-4D97-AF65-F5344CB8AC3E}">
        <p14:creationId xmlns:p14="http://schemas.microsoft.com/office/powerpoint/2010/main" val="1991910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FCA0A-1D9B-F3C3-A8F3-2D7B08061588}"/>
              </a:ext>
            </a:extLst>
          </p:cNvPr>
          <p:cNvSpPr>
            <a:spLocks noGrp="1"/>
          </p:cNvSpPr>
          <p:nvPr>
            <p:ph type="title"/>
          </p:nvPr>
        </p:nvSpPr>
        <p:spPr/>
        <p:txBody>
          <a:bodyPr/>
          <a:lstStyle/>
          <a:p>
            <a:r>
              <a:rPr lang="en-US" dirty="0"/>
              <a:t>Bradley-Terry Ratings</a:t>
            </a:r>
          </a:p>
        </p:txBody>
      </p:sp>
      <p:graphicFrame>
        <p:nvGraphicFramePr>
          <p:cNvPr id="7" name="Content Placeholder 6">
            <a:extLst>
              <a:ext uri="{FF2B5EF4-FFF2-40B4-BE49-F238E27FC236}">
                <a16:creationId xmlns:a16="http://schemas.microsoft.com/office/drawing/2014/main" id="{A1F9FEAC-B0D7-BCDF-93BD-469B25FCC085}"/>
              </a:ext>
            </a:extLst>
          </p:cNvPr>
          <p:cNvGraphicFramePr>
            <a:graphicFrameLocks noGrp="1"/>
          </p:cNvGraphicFramePr>
          <p:nvPr>
            <p:ph idx="1"/>
            <p:extLst>
              <p:ext uri="{D42A27DB-BD31-4B8C-83A1-F6EECF244321}">
                <p14:modId xmlns:p14="http://schemas.microsoft.com/office/powerpoint/2010/main" val="2479060822"/>
              </p:ext>
            </p:extLst>
          </p:nvPr>
        </p:nvGraphicFramePr>
        <p:xfrm>
          <a:off x="951722" y="2077722"/>
          <a:ext cx="10551304" cy="4145280"/>
        </p:xfrm>
        <a:graphic>
          <a:graphicData uri="http://schemas.openxmlformats.org/drawingml/2006/table">
            <a:tbl>
              <a:tblPr firstRow="1" bandRow="1">
                <a:tableStyleId>{5C22544A-7EE6-4342-B048-85BDC9FD1C3A}</a:tableStyleId>
              </a:tblPr>
              <a:tblGrid>
                <a:gridCol w="1446245">
                  <a:extLst>
                    <a:ext uri="{9D8B030D-6E8A-4147-A177-3AD203B41FA5}">
                      <a16:colId xmlns:a16="http://schemas.microsoft.com/office/drawing/2014/main" val="3463268795"/>
                    </a:ext>
                  </a:extLst>
                </a:gridCol>
                <a:gridCol w="1191581">
                  <a:extLst>
                    <a:ext uri="{9D8B030D-6E8A-4147-A177-3AD203B41FA5}">
                      <a16:colId xmlns:a16="http://schemas.microsoft.com/office/drawing/2014/main" val="2661920387"/>
                    </a:ext>
                  </a:extLst>
                </a:gridCol>
                <a:gridCol w="1318913">
                  <a:extLst>
                    <a:ext uri="{9D8B030D-6E8A-4147-A177-3AD203B41FA5}">
                      <a16:colId xmlns:a16="http://schemas.microsoft.com/office/drawing/2014/main" val="3486591286"/>
                    </a:ext>
                  </a:extLst>
                </a:gridCol>
                <a:gridCol w="1212421">
                  <a:extLst>
                    <a:ext uri="{9D8B030D-6E8A-4147-A177-3AD203B41FA5}">
                      <a16:colId xmlns:a16="http://schemas.microsoft.com/office/drawing/2014/main" val="1562264645"/>
                    </a:ext>
                  </a:extLst>
                </a:gridCol>
                <a:gridCol w="1425405">
                  <a:extLst>
                    <a:ext uri="{9D8B030D-6E8A-4147-A177-3AD203B41FA5}">
                      <a16:colId xmlns:a16="http://schemas.microsoft.com/office/drawing/2014/main" val="1768688110"/>
                    </a:ext>
                  </a:extLst>
                </a:gridCol>
                <a:gridCol w="1318913">
                  <a:extLst>
                    <a:ext uri="{9D8B030D-6E8A-4147-A177-3AD203B41FA5}">
                      <a16:colId xmlns:a16="http://schemas.microsoft.com/office/drawing/2014/main" val="2728055455"/>
                    </a:ext>
                  </a:extLst>
                </a:gridCol>
                <a:gridCol w="1482449">
                  <a:extLst>
                    <a:ext uri="{9D8B030D-6E8A-4147-A177-3AD203B41FA5}">
                      <a16:colId xmlns:a16="http://schemas.microsoft.com/office/drawing/2014/main" val="2291387287"/>
                    </a:ext>
                  </a:extLst>
                </a:gridCol>
                <a:gridCol w="1155377">
                  <a:extLst>
                    <a:ext uri="{9D8B030D-6E8A-4147-A177-3AD203B41FA5}">
                      <a16:colId xmlns:a16="http://schemas.microsoft.com/office/drawing/2014/main" val="58726552"/>
                    </a:ext>
                  </a:extLst>
                </a:gridCol>
              </a:tblGrid>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46134766"/>
                  </a:ext>
                </a:extLst>
              </a:tr>
              <a:tr h="370840">
                <a:tc>
                  <a:txBody>
                    <a:bodyPr/>
                    <a:lstStyle/>
                    <a:p>
                      <a:r>
                        <a:rPr lang="en-US" dirty="0"/>
                        <a:t>Buffalo</a:t>
                      </a:r>
                    </a:p>
                  </a:txBody>
                  <a:tcPr/>
                </a:tc>
                <a:tc>
                  <a:txBody>
                    <a:bodyPr/>
                    <a:lstStyle/>
                    <a:p>
                      <a:r>
                        <a:rPr lang="en-US" dirty="0"/>
                        <a:t>-4.04</a:t>
                      </a:r>
                    </a:p>
                  </a:txBody>
                  <a:tcPr/>
                </a:tc>
                <a:tc>
                  <a:txBody>
                    <a:bodyPr/>
                    <a:lstStyle/>
                    <a:p>
                      <a:r>
                        <a:rPr lang="en-US" dirty="0"/>
                        <a:t>Baltimore</a:t>
                      </a:r>
                    </a:p>
                  </a:txBody>
                  <a:tcPr/>
                </a:tc>
                <a:tc>
                  <a:txBody>
                    <a:bodyPr/>
                    <a:lstStyle/>
                    <a:p>
                      <a:r>
                        <a:rPr lang="en-US" dirty="0"/>
                        <a:t>3.28</a:t>
                      </a:r>
                    </a:p>
                  </a:txBody>
                  <a:tcPr/>
                </a:tc>
                <a:tc>
                  <a:txBody>
                    <a:bodyPr/>
                    <a:lstStyle/>
                    <a:p>
                      <a:r>
                        <a:rPr lang="en-US" dirty="0"/>
                        <a:t>Houston</a:t>
                      </a:r>
                    </a:p>
                  </a:txBody>
                  <a:tcPr/>
                </a:tc>
                <a:tc>
                  <a:txBody>
                    <a:bodyPr/>
                    <a:lstStyle/>
                    <a:p>
                      <a:r>
                        <a:rPr lang="en-US" dirty="0"/>
                        <a:t>-6.40</a:t>
                      </a:r>
                    </a:p>
                  </a:txBody>
                  <a:tcPr/>
                </a:tc>
                <a:tc>
                  <a:txBody>
                    <a:bodyPr/>
                    <a:lstStyle/>
                    <a:p>
                      <a:r>
                        <a:rPr lang="en-US" dirty="0"/>
                        <a:t>Denver</a:t>
                      </a:r>
                    </a:p>
                  </a:txBody>
                  <a:tcPr/>
                </a:tc>
                <a:tc>
                  <a:txBody>
                    <a:bodyPr/>
                    <a:lstStyle/>
                    <a:p>
                      <a:r>
                        <a:rPr lang="en-US" dirty="0"/>
                        <a:t>-6.69</a:t>
                      </a:r>
                    </a:p>
                  </a:txBody>
                  <a:tcPr/>
                </a:tc>
                <a:extLst>
                  <a:ext uri="{0D108BD9-81ED-4DB2-BD59-A6C34878D82A}">
                    <a16:rowId xmlns:a16="http://schemas.microsoft.com/office/drawing/2014/main" val="4062352399"/>
                  </a:ext>
                </a:extLst>
              </a:tr>
              <a:tr h="370840">
                <a:tc>
                  <a:txBody>
                    <a:bodyPr/>
                    <a:lstStyle/>
                    <a:p>
                      <a:r>
                        <a:rPr lang="en-US" dirty="0"/>
                        <a:t>Miami</a:t>
                      </a:r>
                    </a:p>
                  </a:txBody>
                  <a:tcPr/>
                </a:tc>
                <a:tc>
                  <a:txBody>
                    <a:bodyPr/>
                    <a:lstStyle/>
                    <a:p>
                      <a:r>
                        <a:rPr lang="en-US" dirty="0"/>
                        <a:t>-6.14</a:t>
                      </a:r>
                    </a:p>
                  </a:txBody>
                  <a:tcPr/>
                </a:tc>
                <a:tc>
                  <a:txBody>
                    <a:bodyPr/>
                    <a:lstStyle/>
                    <a:p>
                      <a:r>
                        <a:rPr lang="en-US" dirty="0"/>
                        <a:t>Cincinnati</a:t>
                      </a:r>
                    </a:p>
                  </a:txBody>
                  <a:tcPr/>
                </a:tc>
                <a:tc>
                  <a:txBody>
                    <a:bodyPr/>
                    <a:lstStyle/>
                    <a:p>
                      <a:r>
                        <a:rPr lang="en-US" dirty="0"/>
                        <a:t>-4.98</a:t>
                      </a:r>
                    </a:p>
                  </a:txBody>
                  <a:tcPr/>
                </a:tc>
                <a:tc>
                  <a:txBody>
                    <a:bodyPr/>
                    <a:lstStyle/>
                    <a:p>
                      <a:r>
                        <a:rPr lang="en-US" dirty="0"/>
                        <a:t>Indianapolis</a:t>
                      </a:r>
                    </a:p>
                  </a:txBody>
                  <a:tcPr/>
                </a:tc>
                <a:tc>
                  <a:txBody>
                    <a:bodyPr/>
                    <a:lstStyle/>
                    <a:p>
                      <a:r>
                        <a:rPr lang="en-US" dirty="0"/>
                        <a:t>-10.01</a:t>
                      </a:r>
                    </a:p>
                  </a:txBody>
                  <a:tcPr/>
                </a:tc>
                <a:tc>
                  <a:txBody>
                    <a:bodyPr/>
                    <a:lstStyle/>
                    <a:p>
                      <a:r>
                        <a:rPr lang="en-US" dirty="0"/>
                        <a:t>Kansas City</a:t>
                      </a:r>
                    </a:p>
                  </a:txBody>
                  <a:tcPr/>
                </a:tc>
                <a:tc>
                  <a:txBody>
                    <a:bodyPr/>
                    <a:lstStyle/>
                    <a:p>
                      <a:r>
                        <a:rPr lang="en-US" dirty="0"/>
                        <a:t>3.46</a:t>
                      </a:r>
                    </a:p>
                  </a:txBody>
                  <a:tcPr/>
                </a:tc>
                <a:extLst>
                  <a:ext uri="{0D108BD9-81ED-4DB2-BD59-A6C34878D82A}">
                    <a16:rowId xmlns:a16="http://schemas.microsoft.com/office/drawing/2014/main" val="2611041824"/>
                  </a:ext>
                </a:extLst>
              </a:tr>
              <a:tr h="370840">
                <a:tc>
                  <a:txBody>
                    <a:bodyPr/>
                    <a:lstStyle/>
                    <a:p>
                      <a:r>
                        <a:rPr lang="en-US" dirty="0"/>
                        <a:t>New England</a:t>
                      </a:r>
                    </a:p>
                  </a:txBody>
                  <a:tcPr/>
                </a:tc>
                <a:tc>
                  <a:txBody>
                    <a:bodyPr/>
                    <a:lstStyle/>
                    <a:p>
                      <a:r>
                        <a:rPr lang="en-US" dirty="0"/>
                        <a:t>8.75</a:t>
                      </a:r>
                    </a:p>
                  </a:txBody>
                  <a:tcPr/>
                </a:tc>
                <a:tc>
                  <a:txBody>
                    <a:bodyPr/>
                    <a:lstStyle/>
                    <a:p>
                      <a:r>
                        <a:rPr lang="en-US" dirty="0"/>
                        <a:t>Cleveland</a:t>
                      </a:r>
                    </a:p>
                  </a:txBody>
                  <a:tcPr/>
                </a:tc>
                <a:tc>
                  <a:txBody>
                    <a:bodyPr/>
                    <a:lstStyle/>
                    <a:p>
                      <a:r>
                        <a:rPr lang="en-US" dirty="0"/>
                        <a:t>-10.82</a:t>
                      </a:r>
                    </a:p>
                  </a:txBody>
                  <a:tcPr/>
                </a:tc>
                <a:tc>
                  <a:txBody>
                    <a:bodyPr/>
                    <a:lstStyle/>
                    <a:p>
                      <a:r>
                        <a:rPr lang="en-US" dirty="0"/>
                        <a:t>Jacksonville</a:t>
                      </a:r>
                    </a:p>
                  </a:txBody>
                  <a:tcPr/>
                </a:tc>
                <a:tc>
                  <a:txBody>
                    <a:bodyPr/>
                    <a:lstStyle/>
                    <a:p>
                      <a:r>
                        <a:rPr lang="en-US" dirty="0"/>
                        <a:t>6.71</a:t>
                      </a:r>
                    </a:p>
                  </a:txBody>
                  <a:tcPr/>
                </a:tc>
                <a:tc>
                  <a:txBody>
                    <a:bodyPr/>
                    <a:lstStyle/>
                    <a:p>
                      <a:r>
                        <a:rPr lang="en-US" dirty="0"/>
                        <a:t>Los Angeles (Chargers)</a:t>
                      </a:r>
                    </a:p>
                  </a:txBody>
                  <a:tcPr/>
                </a:tc>
                <a:tc>
                  <a:txBody>
                    <a:bodyPr/>
                    <a:lstStyle/>
                    <a:p>
                      <a:r>
                        <a:rPr lang="en-US" dirty="0"/>
                        <a:t>3.70</a:t>
                      </a:r>
                    </a:p>
                  </a:txBody>
                  <a:tcPr/>
                </a:tc>
                <a:extLst>
                  <a:ext uri="{0D108BD9-81ED-4DB2-BD59-A6C34878D82A}">
                    <a16:rowId xmlns:a16="http://schemas.microsoft.com/office/drawing/2014/main" val="271243761"/>
                  </a:ext>
                </a:extLst>
              </a:tr>
              <a:tr h="370840">
                <a:tc>
                  <a:txBody>
                    <a:bodyPr/>
                    <a:lstStyle/>
                    <a:p>
                      <a:r>
                        <a:rPr lang="en-US" dirty="0"/>
                        <a:t>New York (Jets)</a:t>
                      </a:r>
                    </a:p>
                  </a:txBody>
                  <a:tcPr/>
                </a:tc>
                <a:tc>
                  <a:txBody>
                    <a:bodyPr/>
                    <a:lstStyle/>
                    <a:p>
                      <a:r>
                        <a:rPr lang="en-US" dirty="0"/>
                        <a:t>-4.93</a:t>
                      </a:r>
                    </a:p>
                  </a:txBody>
                  <a:tcPr/>
                </a:tc>
                <a:tc>
                  <a:txBody>
                    <a:bodyPr/>
                    <a:lstStyle/>
                    <a:p>
                      <a:r>
                        <a:rPr lang="en-US" dirty="0"/>
                        <a:t>Pittsburgh</a:t>
                      </a:r>
                    </a:p>
                  </a:txBody>
                  <a:tcPr/>
                </a:tc>
                <a:tc>
                  <a:txBody>
                    <a:bodyPr/>
                    <a:lstStyle/>
                    <a:p>
                      <a:r>
                        <a:rPr lang="en-US" dirty="0"/>
                        <a:t>5.02</a:t>
                      </a:r>
                    </a:p>
                  </a:txBody>
                  <a:tcPr/>
                </a:tc>
                <a:tc>
                  <a:txBody>
                    <a:bodyPr/>
                    <a:lstStyle/>
                    <a:p>
                      <a:r>
                        <a:rPr lang="en-US" dirty="0"/>
                        <a:t>Tennessee</a:t>
                      </a:r>
                    </a:p>
                  </a:txBody>
                  <a:tcPr/>
                </a:tc>
                <a:tc>
                  <a:txBody>
                    <a:bodyPr/>
                    <a:lstStyle/>
                    <a:p>
                      <a:r>
                        <a:rPr lang="en-US" dirty="0"/>
                        <a:t>-3.45</a:t>
                      </a:r>
                    </a:p>
                  </a:txBody>
                  <a:tcPr/>
                </a:tc>
                <a:tc>
                  <a:txBody>
                    <a:bodyPr/>
                    <a:lstStyle/>
                    <a:p>
                      <a:r>
                        <a:rPr lang="en-US" dirty="0"/>
                        <a:t>Las Vegas</a:t>
                      </a:r>
                    </a:p>
                  </a:txBody>
                  <a:tcPr/>
                </a:tc>
                <a:tc>
                  <a:txBody>
                    <a:bodyPr/>
                    <a:lstStyle/>
                    <a:p>
                      <a:r>
                        <a:rPr lang="en-US" dirty="0"/>
                        <a:t>-4.56</a:t>
                      </a:r>
                    </a:p>
                  </a:txBody>
                  <a:tcPr/>
                </a:tc>
                <a:extLst>
                  <a:ext uri="{0D108BD9-81ED-4DB2-BD59-A6C34878D82A}">
                    <a16:rowId xmlns:a16="http://schemas.microsoft.com/office/drawing/2014/main" val="1695241341"/>
                  </a:ext>
                </a:extLst>
              </a:tr>
              <a:tr h="370840">
                <a:tc>
                  <a:txBody>
                    <a:bodyPr/>
                    <a:lstStyle/>
                    <a:p>
                      <a:r>
                        <a:rPr lang="en-US" dirty="0"/>
                        <a:t>Dallas</a:t>
                      </a:r>
                    </a:p>
                  </a:txBody>
                  <a:tcPr/>
                </a:tc>
                <a:tc>
                  <a:txBody>
                    <a:bodyPr/>
                    <a:lstStyle/>
                    <a:p>
                      <a:r>
                        <a:rPr lang="en-US" dirty="0"/>
                        <a:t>1.62</a:t>
                      </a:r>
                    </a:p>
                  </a:txBody>
                  <a:tcPr/>
                </a:tc>
                <a:tc>
                  <a:txBody>
                    <a:bodyPr/>
                    <a:lstStyle/>
                    <a:p>
                      <a:r>
                        <a:rPr lang="en-US" dirty="0"/>
                        <a:t>Chicago</a:t>
                      </a:r>
                    </a:p>
                  </a:txBody>
                  <a:tcPr/>
                </a:tc>
                <a:tc>
                  <a:txBody>
                    <a:bodyPr/>
                    <a:lstStyle/>
                    <a:p>
                      <a:r>
                        <a:rPr lang="en-US" dirty="0"/>
                        <a:t>-1.35</a:t>
                      </a:r>
                    </a:p>
                  </a:txBody>
                  <a:tcPr/>
                </a:tc>
                <a:tc>
                  <a:txBody>
                    <a:bodyPr/>
                    <a:lstStyle/>
                    <a:p>
                      <a:r>
                        <a:rPr lang="en-US" dirty="0"/>
                        <a:t>Atlanta</a:t>
                      </a:r>
                    </a:p>
                  </a:txBody>
                  <a:tcPr/>
                </a:tc>
                <a:tc>
                  <a:txBody>
                    <a:bodyPr/>
                    <a:lstStyle/>
                    <a:p>
                      <a:r>
                        <a:rPr lang="en-US" dirty="0"/>
                        <a:t>4.20</a:t>
                      </a:r>
                    </a:p>
                  </a:txBody>
                  <a:tcPr/>
                </a:tc>
                <a:tc>
                  <a:txBody>
                    <a:bodyPr/>
                    <a:lstStyle/>
                    <a:p>
                      <a:r>
                        <a:rPr lang="en-US" dirty="0"/>
                        <a:t>Arizona</a:t>
                      </a:r>
                    </a:p>
                  </a:txBody>
                  <a:tcPr/>
                </a:tc>
                <a:tc>
                  <a:txBody>
                    <a:bodyPr/>
                    <a:lstStyle/>
                    <a:p>
                      <a:r>
                        <a:rPr lang="en-US" dirty="0"/>
                        <a:t>-3.83</a:t>
                      </a:r>
                    </a:p>
                  </a:txBody>
                  <a:tcPr/>
                </a:tc>
                <a:extLst>
                  <a:ext uri="{0D108BD9-81ED-4DB2-BD59-A6C34878D82A}">
                    <a16:rowId xmlns:a16="http://schemas.microsoft.com/office/drawing/2014/main" val="2009266147"/>
                  </a:ext>
                </a:extLst>
              </a:tr>
              <a:tr h="370840">
                <a:tc>
                  <a:txBody>
                    <a:bodyPr/>
                    <a:lstStyle/>
                    <a:p>
                      <a:r>
                        <a:rPr lang="en-US" dirty="0"/>
                        <a:t>New York (Giants)</a:t>
                      </a:r>
                    </a:p>
                  </a:txBody>
                  <a:tcPr/>
                </a:tc>
                <a:tc>
                  <a:txBody>
                    <a:bodyPr/>
                    <a:lstStyle/>
                    <a:p>
                      <a:r>
                        <a:rPr lang="en-US" dirty="0"/>
                        <a:t>-7.54</a:t>
                      </a:r>
                    </a:p>
                  </a:txBody>
                  <a:tcPr/>
                </a:tc>
                <a:tc>
                  <a:txBody>
                    <a:bodyPr/>
                    <a:lstStyle/>
                    <a:p>
                      <a:r>
                        <a:rPr lang="en-US" dirty="0"/>
                        <a:t>Detroit</a:t>
                      </a:r>
                    </a:p>
                  </a:txBody>
                  <a:tcPr/>
                </a:tc>
                <a:tc>
                  <a:txBody>
                    <a:bodyPr/>
                    <a:lstStyle/>
                    <a:p>
                      <a:r>
                        <a:rPr lang="en-US" dirty="0"/>
                        <a:t>2.65</a:t>
                      </a:r>
                    </a:p>
                  </a:txBody>
                  <a:tcPr/>
                </a:tc>
                <a:tc>
                  <a:txBody>
                    <a:bodyPr/>
                    <a:lstStyle/>
                    <a:p>
                      <a:r>
                        <a:rPr lang="en-US" dirty="0"/>
                        <a:t>Carolina</a:t>
                      </a:r>
                    </a:p>
                  </a:txBody>
                  <a:tcPr/>
                </a:tc>
                <a:tc>
                  <a:txBody>
                    <a:bodyPr/>
                    <a:lstStyle/>
                    <a:p>
                      <a:r>
                        <a:rPr lang="en-US" dirty="0"/>
                        <a:t>4.26</a:t>
                      </a:r>
                    </a:p>
                  </a:txBody>
                  <a:tcPr/>
                </a:tc>
                <a:tc>
                  <a:txBody>
                    <a:bodyPr/>
                    <a:lstStyle/>
                    <a:p>
                      <a:r>
                        <a:rPr lang="en-US" dirty="0"/>
                        <a:t>Los Angeles (Rams)</a:t>
                      </a:r>
                    </a:p>
                  </a:txBody>
                  <a:tcPr/>
                </a:tc>
                <a:tc>
                  <a:txBody>
                    <a:bodyPr/>
                    <a:lstStyle/>
                    <a:p>
                      <a:r>
                        <a:rPr lang="en-US" dirty="0"/>
                        <a:t>9.30</a:t>
                      </a:r>
                    </a:p>
                  </a:txBody>
                  <a:tcPr/>
                </a:tc>
                <a:extLst>
                  <a:ext uri="{0D108BD9-81ED-4DB2-BD59-A6C34878D82A}">
                    <a16:rowId xmlns:a16="http://schemas.microsoft.com/office/drawing/2014/main" val="4020849045"/>
                  </a:ext>
                </a:extLst>
              </a:tr>
              <a:tr h="370840">
                <a:tc>
                  <a:txBody>
                    <a:bodyPr/>
                    <a:lstStyle/>
                    <a:p>
                      <a:r>
                        <a:rPr lang="en-US" dirty="0"/>
                        <a:t>Philadelphia</a:t>
                      </a:r>
                    </a:p>
                  </a:txBody>
                  <a:tcPr/>
                </a:tc>
                <a:tc>
                  <a:txBody>
                    <a:bodyPr/>
                    <a:lstStyle/>
                    <a:p>
                      <a:r>
                        <a:rPr lang="en-US" dirty="0"/>
                        <a:t>9.43</a:t>
                      </a:r>
                    </a:p>
                  </a:txBody>
                  <a:tcPr/>
                </a:tc>
                <a:tc>
                  <a:txBody>
                    <a:bodyPr/>
                    <a:lstStyle/>
                    <a:p>
                      <a:r>
                        <a:rPr lang="en-US" dirty="0"/>
                        <a:t>Green Bay</a:t>
                      </a:r>
                    </a:p>
                  </a:txBody>
                  <a:tcPr/>
                </a:tc>
                <a:tc>
                  <a:txBody>
                    <a:bodyPr/>
                    <a:lstStyle/>
                    <a:p>
                      <a:r>
                        <a:rPr lang="en-US" dirty="0"/>
                        <a:t>-1.96</a:t>
                      </a:r>
                    </a:p>
                  </a:txBody>
                  <a:tcPr/>
                </a:tc>
                <a:tc>
                  <a:txBody>
                    <a:bodyPr/>
                    <a:lstStyle/>
                    <a:p>
                      <a:r>
                        <a:rPr lang="en-US" dirty="0"/>
                        <a:t>New Orleans</a:t>
                      </a:r>
                    </a:p>
                  </a:txBody>
                  <a:tcPr/>
                </a:tc>
                <a:tc>
                  <a:txBody>
                    <a:bodyPr/>
                    <a:lstStyle/>
                    <a:p>
                      <a:r>
                        <a:rPr lang="en-US" dirty="0"/>
                        <a:t>8.99</a:t>
                      </a:r>
                    </a:p>
                  </a:txBody>
                  <a:tcPr/>
                </a:tc>
                <a:tc>
                  <a:txBody>
                    <a:bodyPr/>
                    <a:lstStyle/>
                    <a:p>
                      <a:r>
                        <a:rPr lang="en-US" dirty="0"/>
                        <a:t>San Francisco</a:t>
                      </a:r>
                    </a:p>
                  </a:txBody>
                  <a:tcPr/>
                </a:tc>
                <a:tc>
                  <a:txBody>
                    <a:bodyPr/>
                    <a:lstStyle/>
                    <a:p>
                      <a:r>
                        <a:rPr lang="en-US" dirty="0"/>
                        <a:t>-2.83</a:t>
                      </a:r>
                    </a:p>
                  </a:txBody>
                  <a:tcPr/>
                </a:tc>
                <a:extLst>
                  <a:ext uri="{0D108BD9-81ED-4DB2-BD59-A6C34878D82A}">
                    <a16:rowId xmlns:a16="http://schemas.microsoft.com/office/drawing/2014/main" val="4235446810"/>
                  </a:ext>
                </a:extLst>
              </a:tr>
              <a:tr h="370840">
                <a:tc>
                  <a:txBody>
                    <a:bodyPr/>
                    <a:lstStyle/>
                    <a:p>
                      <a:r>
                        <a:rPr lang="en-US" dirty="0"/>
                        <a:t>Washington</a:t>
                      </a:r>
                    </a:p>
                  </a:txBody>
                  <a:tcPr/>
                </a:tc>
                <a:tc>
                  <a:txBody>
                    <a:bodyPr/>
                    <a:lstStyle/>
                    <a:p>
                      <a:r>
                        <a:rPr lang="en-US" dirty="0"/>
                        <a:t>-1.29</a:t>
                      </a:r>
                    </a:p>
                  </a:txBody>
                  <a:tcPr/>
                </a:tc>
                <a:tc>
                  <a:txBody>
                    <a:bodyPr/>
                    <a:lstStyle/>
                    <a:p>
                      <a:r>
                        <a:rPr lang="en-US" dirty="0"/>
                        <a:t>Minnesota</a:t>
                      </a:r>
                    </a:p>
                  </a:txBody>
                  <a:tcPr/>
                </a:tc>
                <a:tc>
                  <a:txBody>
                    <a:bodyPr/>
                    <a:lstStyle/>
                    <a:p>
                      <a:r>
                        <a:rPr lang="en-US" dirty="0"/>
                        <a:t>8.93</a:t>
                      </a:r>
                    </a:p>
                  </a:txBody>
                  <a:tcPr/>
                </a:tc>
                <a:tc>
                  <a:txBody>
                    <a:bodyPr/>
                    <a:lstStyle/>
                    <a:p>
                      <a:r>
                        <a:rPr lang="en-US" dirty="0"/>
                        <a:t>Tampa Bay</a:t>
                      </a:r>
                    </a:p>
                  </a:txBody>
                  <a:tcPr/>
                </a:tc>
                <a:tc>
                  <a:txBody>
                    <a:bodyPr/>
                    <a:lstStyle/>
                    <a:p>
                      <a:r>
                        <a:rPr lang="en-US" dirty="0"/>
                        <a:t>-1.35</a:t>
                      </a:r>
                    </a:p>
                  </a:txBody>
                  <a:tcPr/>
                </a:tc>
                <a:tc>
                  <a:txBody>
                    <a:bodyPr/>
                    <a:lstStyle/>
                    <a:p>
                      <a:r>
                        <a:rPr lang="en-US" dirty="0"/>
                        <a:t>Seattle</a:t>
                      </a:r>
                    </a:p>
                  </a:txBody>
                  <a:tcPr/>
                </a:tc>
                <a:tc>
                  <a:txBody>
                    <a:bodyPr/>
                    <a:lstStyle/>
                    <a:p>
                      <a:r>
                        <a:rPr lang="en-US" dirty="0"/>
                        <a:t>1.91</a:t>
                      </a:r>
                    </a:p>
                  </a:txBody>
                  <a:tcPr/>
                </a:tc>
                <a:extLst>
                  <a:ext uri="{0D108BD9-81ED-4DB2-BD59-A6C34878D82A}">
                    <a16:rowId xmlns:a16="http://schemas.microsoft.com/office/drawing/2014/main" val="1908954201"/>
                  </a:ext>
                </a:extLst>
              </a:tr>
            </a:tbl>
          </a:graphicData>
        </a:graphic>
      </p:graphicFrame>
    </p:spTree>
    <p:extLst>
      <p:ext uri="{BB962C8B-B14F-4D97-AF65-F5344CB8AC3E}">
        <p14:creationId xmlns:p14="http://schemas.microsoft.com/office/powerpoint/2010/main" val="3967028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357B-3498-86FC-3D9A-938F952CE7F5}"/>
              </a:ext>
            </a:extLst>
          </p:cNvPr>
          <p:cNvSpPr>
            <a:spLocks noGrp="1"/>
          </p:cNvSpPr>
          <p:nvPr>
            <p:ph type="title"/>
          </p:nvPr>
        </p:nvSpPr>
        <p:spPr/>
        <p:txBody>
          <a:bodyPr/>
          <a:lstStyle/>
          <a:p>
            <a:r>
              <a:rPr lang="en-US" dirty="0"/>
              <a:t>Bradley-Terry Ratings Discussion</a:t>
            </a:r>
          </a:p>
        </p:txBody>
      </p:sp>
      <p:sp>
        <p:nvSpPr>
          <p:cNvPr id="3" name="Content Placeholder 2">
            <a:extLst>
              <a:ext uri="{FF2B5EF4-FFF2-40B4-BE49-F238E27FC236}">
                <a16:creationId xmlns:a16="http://schemas.microsoft.com/office/drawing/2014/main" id="{08C47088-CD7A-F0F3-86FF-7A45EB893950}"/>
              </a:ext>
            </a:extLst>
          </p:cNvPr>
          <p:cNvSpPr>
            <a:spLocks noGrp="1"/>
          </p:cNvSpPr>
          <p:nvPr>
            <p:ph idx="1"/>
          </p:nvPr>
        </p:nvSpPr>
        <p:spPr/>
        <p:txBody>
          <a:bodyPr>
            <a:normAutofit/>
          </a:bodyPr>
          <a:lstStyle/>
          <a:p>
            <a:pPr marL="0" indent="0">
              <a:buNone/>
            </a:pPr>
            <a:r>
              <a:rPr lang="en-US" sz="1600" dirty="0"/>
              <a:t>According to the adjusted Bradley-Terry Ratings, Philadelphia was the best team with a rating of 9.43, whereas Cleveland was the worst team with a rating of -10.82. The teams that were closest to average were those with ratings nearest 0, these included:  Dallas (1.62), Washington (-1.29), Chicago (-1.35), Tampa Bay (-1.35),  Green Bay (-1.96), and Seattle (1.91). Interestingly, it seems the most average teams in the league were a part of the NFC, whereas the more extraneous ratings belonged to teams in the AFC. It is important to note that the Bradley-Terry ratings consider score differential when creating the ratings. This becomes interesting when we look at the comparison of teams that had the same season record but relatively different ratings. For instance, New Orleans and Carolina each ended with 11 wins, but New Orleans had a rating doubling that of Carolina. This occurred because New Orleans had major blowout wins against Buffalo and Detroit that pulls up their rating. This accounts for the Bradley-Terry rating disparity despite the same record. </a:t>
            </a:r>
          </a:p>
        </p:txBody>
      </p:sp>
    </p:spTree>
    <p:extLst>
      <p:ext uri="{BB962C8B-B14F-4D97-AF65-F5344CB8AC3E}">
        <p14:creationId xmlns:p14="http://schemas.microsoft.com/office/powerpoint/2010/main" val="31107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7542A-A660-8521-73F0-28F89F009B9A}"/>
              </a:ext>
            </a:extLst>
          </p:cNvPr>
          <p:cNvSpPr>
            <a:spLocks noGrp="1"/>
          </p:cNvSpPr>
          <p:nvPr>
            <p:ph type="title"/>
          </p:nvPr>
        </p:nvSpPr>
        <p:spPr/>
        <p:txBody>
          <a:bodyPr/>
          <a:lstStyle/>
          <a:p>
            <a:r>
              <a:rPr lang="en-US" dirty="0"/>
              <a:t>Preseason and Postseason Elo Ratings</a:t>
            </a:r>
          </a:p>
        </p:txBody>
      </p:sp>
      <p:graphicFrame>
        <p:nvGraphicFramePr>
          <p:cNvPr id="4" name="Content Placeholder 3">
            <a:extLst>
              <a:ext uri="{FF2B5EF4-FFF2-40B4-BE49-F238E27FC236}">
                <a16:creationId xmlns:a16="http://schemas.microsoft.com/office/drawing/2014/main" id="{1D507B5D-97CF-1B31-953B-81951DBCD2AD}"/>
              </a:ext>
            </a:extLst>
          </p:cNvPr>
          <p:cNvGraphicFramePr>
            <a:graphicFrameLocks noGrp="1"/>
          </p:cNvGraphicFramePr>
          <p:nvPr>
            <p:ph idx="1"/>
            <p:extLst>
              <p:ext uri="{D42A27DB-BD31-4B8C-83A1-F6EECF244321}">
                <p14:modId xmlns:p14="http://schemas.microsoft.com/office/powerpoint/2010/main" val="2274799421"/>
              </p:ext>
            </p:extLst>
          </p:nvPr>
        </p:nvGraphicFramePr>
        <p:xfrm>
          <a:off x="1484313" y="2667000"/>
          <a:ext cx="10018704" cy="3337560"/>
        </p:xfrm>
        <a:graphic>
          <a:graphicData uri="http://schemas.openxmlformats.org/drawingml/2006/table">
            <a:tbl>
              <a:tblPr firstRow="1" bandRow="1">
                <a:tableStyleId>{5C22544A-7EE6-4342-B048-85BDC9FD1C3A}</a:tableStyleId>
              </a:tblPr>
              <a:tblGrid>
                <a:gridCol w="834892">
                  <a:extLst>
                    <a:ext uri="{9D8B030D-6E8A-4147-A177-3AD203B41FA5}">
                      <a16:colId xmlns:a16="http://schemas.microsoft.com/office/drawing/2014/main" val="3078218701"/>
                    </a:ext>
                  </a:extLst>
                </a:gridCol>
                <a:gridCol w="834892">
                  <a:extLst>
                    <a:ext uri="{9D8B030D-6E8A-4147-A177-3AD203B41FA5}">
                      <a16:colId xmlns:a16="http://schemas.microsoft.com/office/drawing/2014/main" val="1059035034"/>
                    </a:ext>
                  </a:extLst>
                </a:gridCol>
                <a:gridCol w="834892">
                  <a:extLst>
                    <a:ext uri="{9D8B030D-6E8A-4147-A177-3AD203B41FA5}">
                      <a16:colId xmlns:a16="http://schemas.microsoft.com/office/drawing/2014/main" val="3953349610"/>
                    </a:ext>
                  </a:extLst>
                </a:gridCol>
                <a:gridCol w="834892">
                  <a:extLst>
                    <a:ext uri="{9D8B030D-6E8A-4147-A177-3AD203B41FA5}">
                      <a16:colId xmlns:a16="http://schemas.microsoft.com/office/drawing/2014/main" val="2688735389"/>
                    </a:ext>
                  </a:extLst>
                </a:gridCol>
                <a:gridCol w="834892">
                  <a:extLst>
                    <a:ext uri="{9D8B030D-6E8A-4147-A177-3AD203B41FA5}">
                      <a16:colId xmlns:a16="http://schemas.microsoft.com/office/drawing/2014/main" val="3667425563"/>
                    </a:ext>
                  </a:extLst>
                </a:gridCol>
                <a:gridCol w="834892">
                  <a:extLst>
                    <a:ext uri="{9D8B030D-6E8A-4147-A177-3AD203B41FA5}">
                      <a16:colId xmlns:a16="http://schemas.microsoft.com/office/drawing/2014/main" val="3669205044"/>
                    </a:ext>
                  </a:extLst>
                </a:gridCol>
                <a:gridCol w="834892">
                  <a:extLst>
                    <a:ext uri="{9D8B030D-6E8A-4147-A177-3AD203B41FA5}">
                      <a16:colId xmlns:a16="http://schemas.microsoft.com/office/drawing/2014/main" val="3987425640"/>
                    </a:ext>
                  </a:extLst>
                </a:gridCol>
                <a:gridCol w="834892">
                  <a:extLst>
                    <a:ext uri="{9D8B030D-6E8A-4147-A177-3AD203B41FA5}">
                      <a16:colId xmlns:a16="http://schemas.microsoft.com/office/drawing/2014/main" val="3150896090"/>
                    </a:ext>
                  </a:extLst>
                </a:gridCol>
                <a:gridCol w="834892">
                  <a:extLst>
                    <a:ext uri="{9D8B030D-6E8A-4147-A177-3AD203B41FA5}">
                      <a16:colId xmlns:a16="http://schemas.microsoft.com/office/drawing/2014/main" val="1913969118"/>
                    </a:ext>
                  </a:extLst>
                </a:gridCol>
                <a:gridCol w="834892">
                  <a:extLst>
                    <a:ext uri="{9D8B030D-6E8A-4147-A177-3AD203B41FA5}">
                      <a16:colId xmlns:a16="http://schemas.microsoft.com/office/drawing/2014/main" val="816324738"/>
                    </a:ext>
                  </a:extLst>
                </a:gridCol>
                <a:gridCol w="834892">
                  <a:extLst>
                    <a:ext uri="{9D8B030D-6E8A-4147-A177-3AD203B41FA5}">
                      <a16:colId xmlns:a16="http://schemas.microsoft.com/office/drawing/2014/main" val="2977835125"/>
                    </a:ext>
                  </a:extLst>
                </a:gridCol>
                <a:gridCol w="834892">
                  <a:extLst>
                    <a:ext uri="{9D8B030D-6E8A-4147-A177-3AD203B41FA5}">
                      <a16:colId xmlns:a16="http://schemas.microsoft.com/office/drawing/2014/main" val="2393283757"/>
                    </a:ext>
                  </a:extLst>
                </a:gridCol>
              </a:tblGrid>
              <a:tr h="370840">
                <a:tc>
                  <a:txBody>
                    <a:bodyPr/>
                    <a:lstStyle/>
                    <a:p>
                      <a:endParaRPr lang="en-US"/>
                    </a:p>
                  </a:txBody>
                  <a:tcPr/>
                </a:tc>
                <a:tc>
                  <a:txBody>
                    <a:bodyPr/>
                    <a:lstStyle/>
                    <a:p>
                      <a:r>
                        <a:rPr lang="en-US" dirty="0"/>
                        <a:t>Pre</a:t>
                      </a:r>
                    </a:p>
                  </a:txBody>
                  <a:tcPr/>
                </a:tc>
                <a:tc>
                  <a:txBody>
                    <a:bodyPr/>
                    <a:lstStyle/>
                    <a:p>
                      <a:r>
                        <a:rPr lang="en-US" dirty="0"/>
                        <a:t>Post</a:t>
                      </a:r>
                    </a:p>
                  </a:txBody>
                  <a:tcPr/>
                </a:tc>
                <a:tc>
                  <a:txBody>
                    <a:bodyPr/>
                    <a:lstStyle/>
                    <a:p>
                      <a:endParaRPr lang="en-US"/>
                    </a:p>
                  </a:txBody>
                  <a:tcPr/>
                </a:tc>
                <a:tc>
                  <a:txBody>
                    <a:bodyPr/>
                    <a:lstStyle/>
                    <a:p>
                      <a:r>
                        <a:rPr lang="en-US" dirty="0"/>
                        <a:t>Pre</a:t>
                      </a:r>
                    </a:p>
                  </a:txBody>
                  <a:tcPr/>
                </a:tc>
                <a:tc>
                  <a:txBody>
                    <a:bodyPr/>
                    <a:lstStyle/>
                    <a:p>
                      <a:r>
                        <a:rPr lang="en-US" dirty="0"/>
                        <a:t>Post</a:t>
                      </a:r>
                    </a:p>
                  </a:txBody>
                  <a:tcPr/>
                </a:tc>
                <a:tc>
                  <a:txBody>
                    <a:bodyPr/>
                    <a:lstStyle/>
                    <a:p>
                      <a:endParaRPr lang="en-US"/>
                    </a:p>
                  </a:txBody>
                  <a:tcPr/>
                </a:tc>
                <a:tc>
                  <a:txBody>
                    <a:bodyPr/>
                    <a:lstStyle/>
                    <a:p>
                      <a:r>
                        <a:rPr lang="en-US" dirty="0"/>
                        <a:t>Pre</a:t>
                      </a:r>
                    </a:p>
                  </a:txBody>
                  <a:tcPr/>
                </a:tc>
                <a:tc>
                  <a:txBody>
                    <a:bodyPr/>
                    <a:lstStyle/>
                    <a:p>
                      <a:r>
                        <a:rPr lang="en-US" dirty="0"/>
                        <a:t>Post</a:t>
                      </a:r>
                    </a:p>
                  </a:txBody>
                  <a:tcPr/>
                </a:tc>
                <a:tc>
                  <a:txBody>
                    <a:bodyPr/>
                    <a:lstStyle/>
                    <a:p>
                      <a:endParaRPr lang="en-US"/>
                    </a:p>
                  </a:txBody>
                  <a:tcPr/>
                </a:tc>
                <a:tc>
                  <a:txBody>
                    <a:bodyPr/>
                    <a:lstStyle/>
                    <a:p>
                      <a:r>
                        <a:rPr lang="en-US" dirty="0"/>
                        <a:t>Pre</a:t>
                      </a:r>
                    </a:p>
                  </a:txBody>
                  <a:tcPr/>
                </a:tc>
                <a:tc>
                  <a:txBody>
                    <a:bodyPr/>
                    <a:lstStyle/>
                    <a:p>
                      <a:r>
                        <a:rPr lang="en-US" dirty="0"/>
                        <a:t>Post</a:t>
                      </a:r>
                    </a:p>
                  </a:txBody>
                  <a:tcPr/>
                </a:tc>
                <a:extLst>
                  <a:ext uri="{0D108BD9-81ED-4DB2-BD59-A6C34878D82A}">
                    <a16:rowId xmlns:a16="http://schemas.microsoft.com/office/drawing/2014/main" val="2699170699"/>
                  </a:ext>
                </a:extLst>
              </a:tr>
              <a:tr h="370840">
                <a:tc>
                  <a:txBody>
                    <a:bodyPr/>
                    <a:lstStyle/>
                    <a:p>
                      <a:r>
                        <a:rPr lang="en-US" sz="1100" dirty="0"/>
                        <a:t>BUF</a:t>
                      </a:r>
                    </a:p>
                  </a:txBody>
                  <a:tcPr marL="83191" marR="83191" marT="41595" marB="41595"/>
                </a:tc>
                <a:tc>
                  <a:txBody>
                    <a:bodyPr/>
                    <a:lstStyle/>
                    <a:p>
                      <a:pPr algn="r"/>
                      <a:r>
                        <a:rPr lang="en-US" sz="1200" dirty="0">
                          <a:effectLst/>
                        </a:rPr>
                        <a:t>1482.104</a:t>
                      </a:r>
                    </a:p>
                  </a:txBody>
                  <a:tcPr marL="38100" marR="38100" marT="30480" marB="30480" anchor="ctr"/>
                </a:tc>
                <a:tc>
                  <a:txBody>
                    <a:bodyPr/>
                    <a:lstStyle/>
                    <a:p>
                      <a:pPr algn="r"/>
                      <a:r>
                        <a:rPr lang="en-US" sz="1200" dirty="0">
                          <a:effectLst/>
                        </a:rPr>
                        <a:t>1510.042</a:t>
                      </a:r>
                    </a:p>
                  </a:txBody>
                  <a:tcPr marL="38100" marR="38100" marT="30480" marB="30480" anchor="ctr"/>
                </a:tc>
                <a:tc>
                  <a:txBody>
                    <a:bodyPr/>
                    <a:lstStyle/>
                    <a:p>
                      <a:r>
                        <a:rPr lang="en-US" sz="1200" dirty="0"/>
                        <a:t>BAL</a:t>
                      </a:r>
                    </a:p>
                  </a:txBody>
                  <a:tcPr marL="83191" marR="83191" marT="41595" marB="41595"/>
                </a:tc>
                <a:tc>
                  <a:txBody>
                    <a:bodyPr/>
                    <a:lstStyle/>
                    <a:p>
                      <a:pPr algn="r"/>
                      <a:r>
                        <a:rPr lang="en-US" sz="1200">
                          <a:effectLst/>
                        </a:rPr>
                        <a:t>1486.818</a:t>
                      </a:r>
                    </a:p>
                  </a:txBody>
                  <a:tcPr marL="38100" marR="38100" marT="30480" marB="30480" anchor="ctr"/>
                </a:tc>
                <a:tc>
                  <a:txBody>
                    <a:bodyPr/>
                    <a:lstStyle/>
                    <a:p>
                      <a:pPr algn="r"/>
                      <a:r>
                        <a:rPr lang="en-US" sz="1200" dirty="0">
                          <a:effectLst/>
                        </a:rPr>
                        <a:t>1543.035</a:t>
                      </a:r>
                    </a:p>
                  </a:txBody>
                  <a:tcPr marL="38100" marR="38100" marT="30480" marB="30480" anchor="ctr"/>
                </a:tc>
                <a:tc>
                  <a:txBody>
                    <a:bodyPr/>
                    <a:lstStyle/>
                    <a:p>
                      <a:r>
                        <a:rPr lang="en-US" sz="1200" dirty="0"/>
                        <a:t>HOU</a:t>
                      </a:r>
                    </a:p>
                  </a:txBody>
                  <a:tcPr marL="83191" marR="83191" marT="41595" marB="41595"/>
                </a:tc>
                <a:tc>
                  <a:txBody>
                    <a:bodyPr/>
                    <a:lstStyle/>
                    <a:p>
                      <a:pPr algn="r"/>
                      <a:r>
                        <a:rPr lang="en-US" sz="1200">
                          <a:effectLst/>
                        </a:rPr>
                        <a:t>1497.578</a:t>
                      </a:r>
                    </a:p>
                  </a:txBody>
                  <a:tcPr marL="38100" marR="38100" marT="30480" marB="30480" anchor="ctr"/>
                </a:tc>
                <a:tc>
                  <a:txBody>
                    <a:bodyPr/>
                    <a:lstStyle/>
                    <a:p>
                      <a:pPr algn="r"/>
                      <a:r>
                        <a:rPr lang="en-US" sz="1200" dirty="0">
                          <a:effectLst/>
                        </a:rPr>
                        <a:t>1349.402</a:t>
                      </a:r>
                    </a:p>
                  </a:txBody>
                  <a:tcPr marL="38100" marR="38100" marT="30480" marB="30480" anchor="ctr"/>
                </a:tc>
                <a:tc>
                  <a:txBody>
                    <a:bodyPr/>
                    <a:lstStyle/>
                    <a:p>
                      <a:r>
                        <a:rPr lang="en-US" sz="1200" dirty="0"/>
                        <a:t>DEN</a:t>
                      </a:r>
                    </a:p>
                  </a:txBody>
                  <a:tcPr marL="83191" marR="83191" marT="41595" marB="41595"/>
                </a:tc>
                <a:tc>
                  <a:txBody>
                    <a:bodyPr/>
                    <a:lstStyle/>
                    <a:p>
                      <a:pPr algn="r"/>
                      <a:r>
                        <a:rPr lang="en-US" sz="1200">
                          <a:effectLst/>
                        </a:rPr>
                        <a:t>1558.287</a:t>
                      </a:r>
                    </a:p>
                  </a:txBody>
                  <a:tcPr marL="38100" marR="38100" marT="30480" marB="30480" anchor="ctr"/>
                </a:tc>
                <a:tc>
                  <a:txBody>
                    <a:bodyPr/>
                    <a:lstStyle/>
                    <a:p>
                      <a:pPr algn="r"/>
                      <a:r>
                        <a:rPr lang="en-US" sz="1200" dirty="0">
                          <a:effectLst/>
                        </a:rPr>
                        <a:t>1426.449</a:t>
                      </a:r>
                    </a:p>
                  </a:txBody>
                  <a:tcPr marL="38100" marR="38100" marT="30480" marB="30480" anchor="ctr"/>
                </a:tc>
                <a:extLst>
                  <a:ext uri="{0D108BD9-81ED-4DB2-BD59-A6C34878D82A}">
                    <a16:rowId xmlns:a16="http://schemas.microsoft.com/office/drawing/2014/main" val="1640590458"/>
                  </a:ext>
                </a:extLst>
              </a:tr>
              <a:tr h="370840">
                <a:tc>
                  <a:txBody>
                    <a:bodyPr/>
                    <a:lstStyle/>
                    <a:p>
                      <a:r>
                        <a:rPr lang="en-US" sz="1100" dirty="0"/>
                        <a:t>MIA</a:t>
                      </a:r>
                    </a:p>
                  </a:txBody>
                  <a:tcPr marL="83191" marR="83191" marT="41595" marB="41595"/>
                </a:tc>
                <a:tc>
                  <a:txBody>
                    <a:bodyPr/>
                    <a:lstStyle/>
                    <a:p>
                      <a:pPr algn="r"/>
                      <a:r>
                        <a:rPr lang="en-US" sz="1200">
                          <a:effectLst/>
                        </a:rPr>
                        <a:t>1500.933</a:t>
                      </a:r>
                    </a:p>
                  </a:txBody>
                  <a:tcPr marL="38100" marR="38100" marT="30480" marB="30480" anchor="ctr"/>
                </a:tc>
                <a:tc>
                  <a:txBody>
                    <a:bodyPr/>
                    <a:lstStyle/>
                    <a:p>
                      <a:pPr algn="r"/>
                      <a:r>
                        <a:rPr lang="en-US" sz="1200" dirty="0">
                          <a:effectLst/>
                        </a:rPr>
                        <a:t>1418.777</a:t>
                      </a:r>
                    </a:p>
                  </a:txBody>
                  <a:tcPr marL="38100" marR="38100" marT="30480" marB="30480" anchor="ctr"/>
                </a:tc>
                <a:tc>
                  <a:txBody>
                    <a:bodyPr/>
                    <a:lstStyle/>
                    <a:p>
                      <a:r>
                        <a:rPr lang="en-US" sz="1200" dirty="0"/>
                        <a:t>CIN</a:t>
                      </a:r>
                    </a:p>
                  </a:txBody>
                  <a:tcPr marL="83191" marR="83191" marT="41595" marB="41595"/>
                </a:tc>
                <a:tc>
                  <a:txBody>
                    <a:bodyPr/>
                    <a:lstStyle/>
                    <a:p>
                      <a:pPr algn="r"/>
                      <a:r>
                        <a:rPr lang="en-US" sz="1200" dirty="0">
                          <a:effectLst/>
                        </a:rPr>
                        <a:t>1514.262</a:t>
                      </a:r>
                    </a:p>
                  </a:txBody>
                  <a:tcPr marL="38100" marR="38100" marT="30480" marB="30480" anchor="ctr"/>
                </a:tc>
                <a:tc>
                  <a:txBody>
                    <a:bodyPr/>
                    <a:lstStyle/>
                    <a:p>
                      <a:pPr algn="r"/>
                      <a:r>
                        <a:rPr lang="en-US" sz="1200" dirty="0">
                          <a:effectLst/>
                        </a:rPr>
                        <a:t>1456.890</a:t>
                      </a:r>
                    </a:p>
                  </a:txBody>
                  <a:tcPr marL="38100" marR="38100" marT="30480" marB="30480" anchor="ctr"/>
                </a:tc>
                <a:tc>
                  <a:txBody>
                    <a:bodyPr/>
                    <a:lstStyle/>
                    <a:p>
                      <a:r>
                        <a:rPr lang="en-US" sz="1200" dirty="0"/>
                        <a:t>IND</a:t>
                      </a:r>
                    </a:p>
                  </a:txBody>
                  <a:tcPr marL="83191" marR="83191" marT="41595" marB="41595"/>
                </a:tc>
                <a:tc>
                  <a:txBody>
                    <a:bodyPr/>
                    <a:lstStyle/>
                    <a:p>
                      <a:pPr algn="r"/>
                      <a:r>
                        <a:rPr lang="en-US" sz="1200">
                          <a:effectLst/>
                        </a:rPr>
                        <a:t>1505.644</a:t>
                      </a:r>
                    </a:p>
                  </a:txBody>
                  <a:tcPr marL="38100" marR="38100" marT="30480" marB="30480" anchor="ctr"/>
                </a:tc>
                <a:tc>
                  <a:txBody>
                    <a:bodyPr/>
                    <a:lstStyle/>
                    <a:p>
                      <a:pPr algn="r"/>
                      <a:r>
                        <a:rPr lang="en-US" sz="1200" dirty="0">
                          <a:effectLst/>
                        </a:rPr>
                        <a:t>1355.889</a:t>
                      </a:r>
                    </a:p>
                  </a:txBody>
                  <a:tcPr marL="38100" marR="38100" marT="30480" marB="30480" anchor="ctr"/>
                </a:tc>
                <a:tc>
                  <a:txBody>
                    <a:bodyPr/>
                    <a:lstStyle/>
                    <a:p>
                      <a:r>
                        <a:rPr lang="en-US" sz="1200" dirty="0"/>
                        <a:t>KC</a:t>
                      </a:r>
                    </a:p>
                  </a:txBody>
                  <a:tcPr marL="83191" marR="83191" marT="41595" marB="41595"/>
                </a:tc>
                <a:tc>
                  <a:txBody>
                    <a:bodyPr/>
                    <a:lstStyle/>
                    <a:p>
                      <a:pPr algn="r"/>
                      <a:r>
                        <a:rPr lang="en-US" sz="1200">
                          <a:effectLst/>
                        </a:rPr>
                        <a:t>1608.883</a:t>
                      </a:r>
                    </a:p>
                  </a:txBody>
                  <a:tcPr marL="38100" marR="38100" marT="30480" marB="30480" anchor="ctr"/>
                </a:tc>
                <a:tc>
                  <a:txBody>
                    <a:bodyPr/>
                    <a:lstStyle/>
                    <a:p>
                      <a:pPr algn="r"/>
                      <a:r>
                        <a:rPr lang="en-US" sz="1200" dirty="0">
                          <a:effectLst/>
                        </a:rPr>
                        <a:t>1619.785</a:t>
                      </a:r>
                    </a:p>
                  </a:txBody>
                  <a:tcPr marL="38100" marR="38100" marT="30480" marB="30480" anchor="ctr"/>
                </a:tc>
                <a:extLst>
                  <a:ext uri="{0D108BD9-81ED-4DB2-BD59-A6C34878D82A}">
                    <a16:rowId xmlns:a16="http://schemas.microsoft.com/office/drawing/2014/main" val="1521896457"/>
                  </a:ext>
                </a:extLst>
              </a:tr>
              <a:tr h="370840">
                <a:tc>
                  <a:txBody>
                    <a:bodyPr/>
                    <a:lstStyle/>
                    <a:p>
                      <a:r>
                        <a:rPr lang="en-US" sz="1100" dirty="0"/>
                        <a:t>NE</a:t>
                      </a:r>
                    </a:p>
                  </a:txBody>
                  <a:tcPr marL="83191" marR="83191" marT="41595" marB="41595"/>
                </a:tc>
                <a:tc>
                  <a:txBody>
                    <a:bodyPr/>
                    <a:lstStyle/>
                    <a:p>
                      <a:pPr algn="r"/>
                      <a:r>
                        <a:rPr lang="en-US" sz="1200">
                          <a:effectLst/>
                        </a:rPr>
                        <a:t>1685.287</a:t>
                      </a:r>
                    </a:p>
                  </a:txBody>
                  <a:tcPr marL="38100" marR="38100" marT="30480" marB="30480" anchor="ctr"/>
                </a:tc>
                <a:tc>
                  <a:txBody>
                    <a:bodyPr/>
                    <a:lstStyle/>
                    <a:p>
                      <a:pPr algn="r"/>
                      <a:r>
                        <a:rPr lang="en-US" sz="1200" dirty="0">
                          <a:effectLst/>
                        </a:rPr>
                        <a:t>1743.425</a:t>
                      </a:r>
                    </a:p>
                  </a:txBody>
                  <a:tcPr marL="38100" marR="38100" marT="30480" marB="30480" anchor="ctr"/>
                </a:tc>
                <a:tc>
                  <a:txBody>
                    <a:bodyPr/>
                    <a:lstStyle/>
                    <a:p>
                      <a:r>
                        <a:rPr lang="en-US" sz="1200" dirty="0"/>
                        <a:t>CLE</a:t>
                      </a:r>
                    </a:p>
                  </a:txBody>
                  <a:tcPr marL="83191" marR="83191" marT="41595" marB="41595"/>
                </a:tc>
                <a:tc>
                  <a:txBody>
                    <a:bodyPr/>
                    <a:lstStyle/>
                    <a:p>
                      <a:pPr algn="r"/>
                      <a:r>
                        <a:rPr lang="en-US" sz="1200">
                          <a:effectLst/>
                        </a:rPr>
                        <a:t>1330.897</a:t>
                      </a:r>
                    </a:p>
                  </a:txBody>
                  <a:tcPr marL="38100" marR="38100" marT="30480" marB="30480" anchor="ctr"/>
                </a:tc>
                <a:tc>
                  <a:txBody>
                    <a:bodyPr/>
                    <a:lstStyle/>
                    <a:p>
                      <a:pPr algn="r"/>
                      <a:r>
                        <a:rPr lang="en-US" sz="1200" dirty="0">
                          <a:effectLst/>
                        </a:rPr>
                        <a:t>1193.295</a:t>
                      </a:r>
                    </a:p>
                  </a:txBody>
                  <a:tcPr marL="38100" marR="38100" marT="30480" marB="30480" anchor="ctr"/>
                </a:tc>
                <a:tc>
                  <a:txBody>
                    <a:bodyPr/>
                    <a:lstStyle/>
                    <a:p>
                      <a:r>
                        <a:rPr lang="en-US" sz="1200" dirty="0"/>
                        <a:t>JAX</a:t>
                      </a:r>
                    </a:p>
                  </a:txBody>
                  <a:tcPr marL="83191" marR="83191" marT="41595" marB="41595"/>
                </a:tc>
                <a:tc>
                  <a:txBody>
                    <a:bodyPr/>
                    <a:lstStyle/>
                    <a:p>
                      <a:pPr algn="r"/>
                      <a:r>
                        <a:rPr lang="en-US" sz="1200">
                          <a:effectLst/>
                        </a:rPr>
                        <a:t>1372.460</a:t>
                      </a:r>
                    </a:p>
                  </a:txBody>
                  <a:tcPr marL="38100" marR="38100" marT="30480" marB="30480" anchor="ctr"/>
                </a:tc>
                <a:tc>
                  <a:txBody>
                    <a:bodyPr/>
                    <a:lstStyle/>
                    <a:p>
                      <a:pPr algn="r"/>
                      <a:r>
                        <a:rPr lang="en-US" sz="1200" dirty="0">
                          <a:effectLst/>
                        </a:rPr>
                        <a:t>1502.994</a:t>
                      </a:r>
                    </a:p>
                  </a:txBody>
                  <a:tcPr marL="38100" marR="38100" marT="30480" marB="30480" anchor="ctr"/>
                </a:tc>
                <a:tc>
                  <a:txBody>
                    <a:bodyPr/>
                    <a:lstStyle/>
                    <a:p>
                      <a:r>
                        <a:rPr lang="en-US" sz="1200" dirty="0"/>
                        <a:t>LAC</a:t>
                      </a:r>
                    </a:p>
                  </a:txBody>
                  <a:tcPr marL="83191" marR="83191" marT="41595" marB="41595"/>
                </a:tc>
                <a:tc>
                  <a:txBody>
                    <a:bodyPr/>
                    <a:lstStyle/>
                    <a:p>
                      <a:pPr algn="r"/>
                      <a:r>
                        <a:rPr lang="en-US" sz="1200" dirty="0">
                          <a:effectLst/>
                        </a:rPr>
                        <a:t>1431.043</a:t>
                      </a:r>
                    </a:p>
                  </a:txBody>
                  <a:tcPr marL="38100" marR="38100" marT="30480" marB="30480" anchor="ctr"/>
                </a:tc>
                <a:tc>
                  <a:txBody>
                    <a:bodyPr/>
                    <a:lstStyle/>
                    <a:p>
                      <a:pPr algn="r"/>
                      <a:r>
                        <a:rPr lang="en-US" sz="1200" dirty="0">
                          <a:effectLst/>
                        </a:rPr>
                        <a:t>1550.042</a:t>
                      </a:r>
                    </a:p>
                  </a:txBody>
                  <a:tcPr marL="38100" marR="38100" marT="30480" marB="30480" anchor="ctr"/>
                </a:tc>
                <a:extLst>
                  <a:ext uri="{0D108BD9-81ED-4DB2-BD59-A6C34878D82A}">
                    <a16:rowId xmlns:a16="http://schemas.microsoft.com/office/drawing/2014/main" val="281996606"/>
                  </a:ext>
                </a:extLst>
              </a:tr>
              <a:tr h="370840">
                <a:tc>
                  <a:txBody>
                    <a:bodyPr/>
                    <a:lstStyle/>
                    <a:p>
                      <a:r>
                        <a:rPr lang="en-US" sz="1100" dirty="0"/>
                        <a:t>NYJ</a:t>
                      </a:r>
                    </a:p>
                  </a:txBody>
                  <a:tcPr marL="83191" marR="83191" marT="41595" marB="41595"/>
                </a:tc>
                <a:tc>
                  <a:txBody>
                    <a:bodyPr/>
                    <a:lstStyle/>
                    <a:p>
                      <a:pPr algn="r"/>
                      <a:r>
                        <a:rPr lang="en-US" sz="1200">
                          <a:effectLst/>
                        </a:rPr>
                        <a:t>1448.347</a:t>
                      </a:r>
                    </a:p>
                  </a:txBody>
                  <a:tcPr marL="38100" marR="38100" marT="30480" marB="30480" anchor="ctr"/>
                </a:tc>
                <a:tc>
                  <a:txBody>
                    <a:bodyPr/>
                    <a:lstStyle/>
                    <a:p>
                      <a:pPr algn="r"/>
                      <a:r>
                        <a:rPr lang="en-US" sz="1200" dirty="0">
                          <a:effectLst/>
                        </a:rPr>
                        <a:t>1392.064</a:t>
                      </a:r>
                    </a:p>
                  </a:txBody>
                  <a:tcPr marL="38100" marR="38100" marT="30480" marB="30480" anchor="ctr"/>
                </a:tc>
                <a:tc>
                  <a:txBody>
                    <a:bodyPr/>
                    <a:lstStyle/>
                    <a:p>
                      <a:r>
                        <a:rPr lang="en-US" sz="1200" dirty="0">
                          <a:effectLst/>
                        </a:rPr>
                        <a:t>PIT</a:t>
                      </a:r>
                    </a:p>
                  </a:txBody>
                  <a:tcPr marL="38100" marR="38100" marT="30480" marB="30480" anchor="ctr"/>
                </a:tc>
                <a:tc>
                  <a:txBody>
                    <a:bodyPr/>
                    <a:lstStyle/>
                    <a:p>
                      <a:pPr algn="r"/>
                      <a:r>
                        <a:rPr lang="en-US" sz="1200">
                          <a:effectLst/>
                        </a:rPr>
                        <a:t>1594.790</a:t>
                      </a:r>
                    </a:p>
                  </a:txBody>
                  <a:tcPr marL="38100" marR="38100" marT="30480" marB="30480" anchor="ctr"/>
                </a:tc>
                <a:tc>
                  <a:txBody>
                    <a:bodyPr/>
                    <a:lstStyle/>
                    <a:p>
                      <a:pPr algn="r"/>
                      <a:r>
                        <a:rPr lang="en-US" sz="1200" dirty="0">
                          <a:effectLst/>
                        </a:rPr>
                        <a:t>1666.269</a:t>
                      </a:r>
                    </a:p>
                  </a:txBody>
                  <a:tcPr marL="38100" marR="38100" marT="30480" marB="30480" anchor="ctr"/>
                </a:tc>
                <a:tc>
                  <a:txBody>
                    <a:bodyPr/>
                    <a:lstStyle/>
                    <a:p>
                      <a:r>
                        <a:rPr lang="en-US" sz="1200" dirty="0"/>
                        <a:t>TEN</a:t>
                      </a:r>
                    </a:p>
                  </a:txBody>
                  <a:tcPr marL="83191" marR="83191" marT="41595" marB="41595"/>
                </a:tc>
                <a:tc>
                  <a:txBody>
                    <a:bodyPr/>
                    <a:lstStyle/>
                    <a:p>
                      <a:pPr algn="r"/>
                      <a:r>
                        <a:rPr lang="en-US" sz="1200">
                          <a:effectLst/>
                        </a:rPr>
                        <a:t>1448.986</a:t>
                      </a:r>
                    </a:p>
                  </a:txBody>
                  <a:tcPr marL="38100" marR="38100" marT="30480" marB="30480" anchor="ctr"/>
                </a:tc>
                <a:tc>
                  <a:txBody>
                    <a:bodyPr/>
                    <a:lstStyle/>
                    <a:p>
                      <a:pPr algn="r"/>
                      <a:r>
                        <a:rPr lang="en-US" sz="1200" dirty="0">
                          <a:effectLst/>
                        </a:rPr>
                        <a:t>1479.288</a:t>
                      </a:r>
                    </a:p>
                  </a:txBody>
                  <a:tcPr marL="38100" marR="38100" marT="30480" marB="30480" anchor="ctr"/>
                </a:tc>
                <a:tc>
                  <a:txBody>
                    <a:bodyPr/>
                    <a:lstStyle/>
                    <a:p>
                      <a:r>
                        <a:rPr lang="en-US" sz="1200" dirty="0"/>
                        <a:t>LV</a:t>
                      </a:r>
                    </a:p>
                  </a:txBody>
                  <a:tcPr marL="83191" marR="83191" marT="41595" marB="41595"/>
                </a:tc>
                <a:tc>
                  <a:txBody>
                    <a:bodyPr/>
                    <a:lstStyle/>
                    <a:p>
                      <a:pPr algn="r"/>
                      <a:r>
                        <a:rPr lang="en-US" sz="1200">
                          <a:effectLst/>
                        </a:rPr>
                        <a:t>1522.824</a:t>
                      </a:r>
                    </a:p>
                  </a:txBody>
                  <a:tcPr marL="38100" marR="38100" marT="30480" marB="30480" anchor="ctr"/>
                </a:tc>
                <a:tc>
                  <a:txBody>
                    <a:bodyPr/>
                    <a:lstStyle/>
                    <a:p>
                      <a:pPr algn="r"/>
                      <a:r>
                        <a:rPr lang="en-US" sz="1200" dirty="0">
                          <a:effectLst/>
                        </a:rPr>
                        <a:t>1443.549</a:t>
                      </a:r>
                    </a:p>
                  </a:txBody>
                  <a:tcPr marL="38100" marR="38100" marT="30480" marB="30480" anchor="ctr"/>
                </a:tc>
                <a:extLst>
                  <a:ext uri="{0D108BD9-81ED-4DB2-BD59-A6C34878D82A}">
                    <a16:rowId xmlns:a16="http://schemas.microsoft.com/office/drawing/2014/main" val="3394404739"/>
                  </a:ext>
                </a:extLst>
              </a:tr>
              <a:tr h="370840">
                <a:tc>
                  <a:txBody>
                    <a:bodyPr/>
                    <a:lstStyle/>
                    <a:p>
                      <a:r>
                        <a:rPr lang="en-US" sz="1100" dirty="0"/>
                        <a:t>DAL</a:t>
                      </a:r>
                    </a:p>
                  </a:txBody>
                  <a:tcPr marL="83191" marR="83191" marT="41595" marB="41595"/>
                </a:tc>
                <a:tc>
                  <a:txBody>
                    <a:bodyPr/>
                    <a:lstStyle/>
                    <a:p>
                      <a:pPr algn="r"/>
                      <a:r>
                        <a:rPr lang="en-US" sz="1200" dirty="0">
                          <a:effectLst/>
                        </a:rPr>
                        <a:t>1563.653</a:t>
                      </a:r>
                    </a:p>
                  </a:txBody>
                  <a:tcPr marL="38100" marR="38100" marT="30480" marB="30480" anchor="ctr"/>
                </a:tc>
                <a:tc>
                  <a:txBody>
                    <a:bodyPr/>
                    <a:lstStyle/>
                    <a:p>
                      <a:pPr algn="r"/>
                      <a:r>
                        <a:rPr lang="en-US" sz="1200" dirty="0">
                          <a:effectLst/>
                        </a:rPr>
                        <a:t>1566.524</a:t>
                      </a:r>
                    </a:p>
                  </a:txBody>
                  <a:tcPr marL="38100" marR="38100" marT="30480" marB="30480" anchor="ctr"/>
                </a:tc>
                <a:tc>
                  <a:txBody>
                    <a:bodyPr/>
                    <a:lstStyle/>
                    <a:p>
                      <a:r>
                        <a:rPr lang="en-US" sz="1200" dirty="0"/>
                        <a:t>CHI</a:t>
                      </a:r>
                    </a:p>
                  </a:txBody>
                  <a:tcPr marL="83191" marR="83191" marT="41595" marB="41595"/>
                </a:tc>
                <a:tc>
                  <a:txBody>
                    <a:bodyPr/>
                    <a:lstStyle/>
                    <a:p>
                      <a:pPr algn="r"/>
                      <a:r>
                        <a:rPr lang="en-US" sz="1200">
                          <a:effectLst/>
                        </a:rPr>
                        <a:t>1378.390</a:t>
                      </a:r>
                    </a:p>
                  </a:txBody>
                  <a:tcPr marL="38100" marR="38100" marT="30480" marB="30480" anchor="ctr"/>
                </a:tc>
                <a:tc>
                  <a:txBody>
                    <a:bodyPr/>
                    <a:lstStyle/>
                    <a:p>
                      <a:pPr algn="r"/>
                      <a:r>
                        <a:rPr lang="en-US" sz="1200" dirty="0">
                          <a:effectLst/>
                        </a:rPr>
                        <a:t>1392.334</a:t>
                      </a:r>
                    </a:p>
                  </a:txBody>
                  <a:tcPr marL="38100" marR="38100" marT="30480" marB="30480" anchor="ctr"/>
                </a:tc>
                <a:tc>
                  <a:txBody>
                    <a:bodyPr/>
                    <a:lstStyle/>
                    <a:p>
                      <a:r>
                        <a:rPr lang="en-US" sz="1200" dirty="0"/>
                        <a:t>ATL</a:t>
                      </a:r>
                    </a:p>
                  </a:txBody>
                  <a:tcPr marL="83191" marR="83191" marT="41595" marB="41595"/>
                </a:tc>
                <a:tc>
                  <a:txBody>
                    <a:bodyPr/>
                    <a:lstStyle/>
                    <a:p>
                      <a:pPr algn="r"/>
                      <a:r>
                        <a:rPr lang="en-US" sz="1200" dirty="0">
                          <a:effectLst/>
                        </a:rPr>
                        <a:t>1605.208</a:t>
                      </a:r>
                    </a:p>
                  </a:txBody>
                  <a:tcPr marL="38100" marR="38100" marT="30480" marB="30480" anchor="ctr"/>
                </a:tc>
                <a:tc>
                  <a:txBody>
                    <a:bodyPr/>
                    <a:lstStyle/>
                    <a:p>
                      <a:pPr algn="r"/>
                      <a:r>
                        <a:rPr lang="en-US" sz="1200" dirty="0">
                          <a:effectLst/>
                        </a:rPr>
                        <a:t>1632.432</a:t>
                      </a:r>
                    </a:p>
                  </a:txBody>
                  <a:tcPr marL="38100" marR="38100" marT="30480" marB="30480" anchor="ctr"/>
                </a:tc>
                <a:tc>
                  <a:txBody>
                    <a:bodyPr/>
                    <a:lstStyle/>
                    <a:p>
                      <a:r>
                        <a:rPr lang="en-US" sz="1200" dirty="0"/>
                        <a:t>ARZ</a:t>
                      </a:r>
                    </a:p>
                  </a:txBody>
                  <a:tcPr marL="83191" marR="83191" marT="41595" marB="41595"/>
                </a:tc>
                <a:tc>
                  <a:txBody>
                    <a:bodyPr/>
                    <a:lstStyle/>
                    <a:p>
                      <a:pPr algn="r"/>
                      <a:r>
                        <a:rPr lang="en-US" sz="1200">
                          <a:effectLst/>
                        </a:rPr>
                        <a:t>1535.481</a:t>
                      </a:r>
                    </a:p>
                  </a:txBody>
                  <a:tcPr marL="38100" marR="38100" marT="30480" marB="30480" anchor="ctr"/>
                </a:tc>
                <a:tc>
                  <a:txBody>
                    <a:bodyPr/>
                    <a:lstStyle/>
                    <a:p>
                      <a:pPr algn="r"/>
                      <a:r>
                        <a:rPr lang="en-US" sz="1200" dirty="0">
                          <a:effectLst/>
                        </a:rPr>
                        <a:t>1472.083</a:t>
                      </a:r>
                    </a:p>
                  </a:txBody>
                  <a:tcPr marL="38100" marR="38100" marT="30480" marB="30480" anchor="ctr"/>
                </a:tc>
                <a:extLst>
                  <a:ext uri="{0D108BD9-81ED-4DB2-BD59-A6C34878D82A}">
                    <a16:rowId xmlns:a16="http://schemas.microsoft.com/office/drawing/2014/main" val="228426943"/>
                  </a:ext>
                </a:extLst>
              </a:tr>
              <a:tr h="370840">
                <a:tc>
                  <a:txBody>
                    <a:bodyPr/>
                    <a:lstStyle/>
                    <a:p>
                      <a:r>
                        <a:rPr lang="en-US" sz="1100" dirty="0"/>
                        <a:t>NYG</a:t>
                      </a:r>
                    </a:p>
                  </a:txBody>
                  <a:tcPr marL="83191" marR="83191" marT="41595" marB="41595"/>
                </a:tc>
                <a:tc>
                  <a:txBody>
                    <a:bodyPr/>
                    <a:lstStyle/>
                    <a:p>
                      <a:pPr algn="r"/>
                      <a:r>
                        <a:rPr lang="en-US" sz="1200">
                          <a:effectLst/>
                        </a:rPr>
                        <a:t>1521.600</a:t>
                      </a:r>
                    </a:p>
                  </a:txBody>
                  <a:tcPr marL="38100" marR="38100" marT="30480" marB="30480" anchor="ctr"/>
                </a:tc>
                <a:tc>
                  <a:txBody>
                    <a:bodyPr/>
                    <a:lstStyle/>
                    <a:p>
                      <a:pPr algn="r"/>
                      <a:r>
                        <a:rPr lang="en-US" sz="1200" dirty="0">
                          <a:effectLst/>
                        </a:rPr>
                        <a:t>1362.569</a:t>
                      </a:r>
                    </a:p>
                  </a:txBody>
                  <a:tcPr marL="38100" marR="38100" marT="30480" marB="30480" anchor="ctr"/>
                </a:tc>
                <a:tc>
                  <a:txBody>
                    <a:bodyPr/>
                    <a:lstStyle/>
                    <a:p>
                      <a:r>
                        <a:rPr lang="en-US" sz="1200" dirty="0"/>
                        <a:t>DET</a:t>
                      </a:r>
                    </a:p>
                  </a:txBody>
                  <a:tcPr marL="83191" marR="83191" marT="41595" marB="41595"/>
                </a:tc>
                <a:tc>
                  <a:txBody>
                    <a:bodyPr/>
                    <a:lstStyle/>
                    <a:p>
                      <a:pPr algn="r"/>
                      <a:r>
                        <a:rPr lang="en-US" sz="1200" dirty="0">
                          <a:effectLst/>
                        </a:rPr>
                        <a:t>1494.785</a:t>
                      </a:r>
                    </a:p>
                  </a:txBody>
                  <a:tcPr marL="38100" marR="38100" marT="30480" marB="30480" anchor="ctr"/>
                </a:tc>
                <a:tc>
                  <a:txBody>
                    <a:bodyPr/>
                    <a:lstStyle/>
                    <a:p>
                      <a:pPr algn="r"/>
                      <a:r>
                        <a:rPr lang="en-US" sz="1200" dirty="0">
                          <a:effectLst/>
                        </a:rPr>
                        <a:t>1526.671</a:t>
                      </a:r>
                    </a:p>
                  </a:txBody>
                  <a:tcPr marL="38100" marR="38100" marT="30480" marB="30480" anchor="ctr"/>
                </a:tc>
                <a:tc>
                  <a:txBody>
                    <a:bodyPr/>
                    <a:lstStyle/>
                    <a:p>
                      <a:r>
                        <a:rPr lang="en-US" sz="1200" dirty="0"/>
                        <a:t>CAR</a:t>
                      </a:r>
                    </a:p>
                  </a:txBody>
                  <a:tcPr marL="83191" marR="83191" marT="41595" marB="41595"/>
                </a:tc>
                <a:tc>
                  <a:txBody>
                    <a:bodyPr/>
                    <a:lstStyle/>
                    <a:p>
                      <a:pPr algn="r"/>
                      <a:r>
                        <a:rPr lang="en-US" sz="1200">
                          <a:effectLst/>
                        </a:rPr>
                        <a:t>1524.642</a:t>
                      </a:r>
                    </a:p>
                  </a:txBody>
                  <a:tcPr marL="38100" marR="38100" marT="30480" marB="30480" anchor="ctr"/>
                </a:tc>
                <a:tc>
                  <a:txBody>
                    <a:bodyPr/>
                    <a:lstStyle/>
                    <a:p>
                      <a:pPr algn="r"/>
                      <a:r>
                        <a:rPr lang="en-US" sz="1200" dirty="0">
                          <a:effectLst/>
                        </a:rPr>
                        <a:t>1580.406</a:t>
                      </a:r>
                    </a:p>
                  </a:txBody>
                  <a:tcPr marL="38100" marR="38100" marT="30480" marB="30480" anchor="ctr"/>
                </a:tc>
                <a:tc>
                  <a:txBody>
                    <a:bodyPr/>
                    <a:lstStyle/>
                    <a:p>
                      <a:r>
                        <a:rPr lang="en-US" sz="1200" dirty="0"/>
                        <a:t>LAR</a:t>
                      </a:r>
                    </a:p>
                  </a:txBody>
                  <a:tcPr marL="83191" marR="83191" marT="41595" marB="41595"/>
                </a:tc>
                <a:tc>
                  <a:txBody>
                    <a:bodyPr/>
                    <a:lstStyle/>
                    <a:p>
                      <a:pPr algn="r"/>
                      <a:r>
                        <a:rPr lang="en-US" sz="1200" dirty="0">
                          <a:effectLst/>
                        </a:rPr>
                        <a:t>1395.816</a:t>
                      </a:r>
                    </a:p>
                  </a:txBody>
                  <a:tcPr marL="38100" marR="38100" marT="30480" marB="30480" anchor="ctr"/>
                </a:tc>
                <a:tc>
                  <a:txBody>
                    <a:bodyPr/>
                    <a:lstStyle/>
                    <a:p>
                      <a:pPr algn="r"/>
                      <a:r>
                        <a:rPr lang="en-US" sz="1200" dirty="0">
                          <a:effectLst/>
                        </a:rPr>
                        <a:t>1559.614</a:t>
                      </a:r>
                    </a:p>
                  </a:txBody>
                  <a:tcPr marL="38100" marR="38100" marT="30480" marB="30480" anchor="ctr"/>
                </a:tc>
                <a:extLst>
                  <a:ext uri="{0D108BD9-81ED-4DB2-BD59-A6C34878D82A}">
                    <a16:rowId xmlns:a16="http://schemas.microsoft.com/office/drawing/2014/main" val="3581457912"/>
                  </a:ext>
                </a:extLst>
              </a:tr>
              <a:tr h="370840">
                <a:tc>
                  <a:txBody>
                    <a:bodyPr/>
                    <a:lstStyle/>
                    <a:p>
                      <a:r>
                        <a:rPr lang="en-US" sz="1100" dirty="0"/>
                        <a:t>PHI</a:t>
                      </a:r>
                    </a:p>
                  </a:txBody>
                  <a:tcPr marL="83191" marR="83191" marT="41595" marB="41595"/>
                </a:tc>
                <a:tc>
                  <a:txBody>
                    <a:bodyPr/>
                    <a:lstStyle/>
                    <a:p>
                      <a:pPr algn="r"/>
                      <a:r>
                        <a:rPr lang="en-US" sz="1200">
                          <a:effectLst/>
                        </a:rPr>
                        <a:t>1503.130</a:t>
                      </a:r>
                    </a:p>
                  </a:txBody>
                  <a:tcPr marL="38100" marR="38100" marT="30480" marB="30480" anchor="ctr"/>
                </a:tc>
                <a:tc>
                  <a:txBody>
                    <a:bodyPr/>
                    <a:lstStyle/>
                    <a:p>
                      <a:pPr algn="r"/>
                      <a:r>
                        <a:rPr lang="en-US" sz="1200" dirty="0">
                          <a:effectLst/>
                        </a:rPr>
                        <a:t>1641.274</a:t>
                      </a:r>
                    </a:p>
                  </a:txBody>
                  <a:tcPr marL="38100" marR="38100" marT="30480" marB="30480" anchor="ctr"/>
                </a:tc>
                <a:tc>
                  <a:txBody>
                    <a:bodyPr/>
                    <a:lstStyle/>
                    <a:p>
                      <a:r>
                        <a:rPr lang="en-US" sz="1200" dirty="0"/>
                        <a:t>GB</a:t>
                      </a:r>
                    </a:p>
                  </a:txBody>
                  <a:tcPr marL="83191" marR="83191" marT="41595" marB="41595"/>
                </a:tc>
                <a:tc>
                  <a:txBody>
                    <a:bodyPr/>
                    <a:lstStyle/>
                    <a:p>
                      <a:pPr algn="r"/>
                      <a:r>
                        <a:rPr lang="en-US" sz="1200">
                          <a:effectLst/>
                        </a:rPr>
                        <a:t>1579.474</a:t>
                      </a:r>
                    </a:p>
                  </a:txBody>
                  <a:tcPr marL="38100" marR="38100" marT="30480" marB="30480" anchor="ctr"/>
                </a:tc>
                <a:tc>
                  <a:txBody>
                    <a:bodyPr/>
                    <a:lstStyle/>
                    <a:p>
                      <a:pPr algn="r"/>
                      <a:r>
                        <a:rPr lang="en-US" sz="1200" dirty="0">
                          <a:effectLst/>
                        </a:rPr>
                        <a:t>1461.442</a:t>
                      </a:r>
                    </a:p>
                  </a:txBody>
                  <a:tcPr marL="38100" marR="38100" marT="30480" marB="30480" anchor="ctr"/>
                </a:tc>
                <a:tc>
                  <a:txBody>
                    <a:bodyPr/>
                    <a:lstStyle/>
                    <a:p>
                      <a:r>
                        <a:rPr lang="en-US" sz="1200" dirty="0"/>
                        <a:t>NO</a:t>
                      </a:r>
                    </a:p>
                  </a:txBody>
                  <a:tcPr marL="83191" marR="83191" marT="41595" marB="41595"/>
                </a:tc>
                <a:tc>
                  <a:txBody>
                    <a:bodyPr/>
                    <a:lstStyle/>
                    <a:p>
                      <a:pPr algn="r"/>
                      <a:r>
                        <a:rPr lang="en-US" sz="1200">
                          <a:effectLst/>
                        </a:rPr>
                        <a:t>1489.372</a:t>
                      </a:r>
                    </a:p>
                  </a:txBody>
                  <a:tcPr marL="38100" marR="38100" marT="30480" marB="30480" anchor="ctr"/>
                </a:tc>
                <a:tc>
                  <a:txBody>
                    <a:bodyPr/>
                    <a:lstStyle/>
                    <a:p>
                      <a:pPr algn="r"/>
                      <a:r>
                        <a:rPr lang="en-US" sz="1200" dirty="0">
                          <a:effectLst/>
                        </a:rPr>
                        <a:t>1613.855</a:t>
                      </a:r>
                    </a:p>
                  </a:txBody>
                  <a:tcPr marL="38100" marR="38100" marT="30480" marB="30480" anchor="ctr"/>
                </a:tc>
                <a:tc>
                  <a:txBody>
                    <a:bodyPr/>
                    <a:lstStyle/>
                    <a:p>
                      <a:r>
                        <a:rPr lang="en-US" sz="1200" dirty="0"/>
                        <a:t>SF</a:t>
                      </a:r>
                    </a:p>
                  </a:txBody>
                  <a:tcPr marL="83191" marR="83191" marT="41595" marB="41595"/>
                </a:tc>
                <a:tc>
                  <a:txBody>
                    <a:bodyPr/>
                    <a:lstStyle/>
                    <a:p>
                      <a:pPr algn="r"/>
                      <a:r>
                        <a:rPr lang="en-US" sz="1200" dirty="0">
                          <a:effectLst/>
                        </a:rPr>
                        <a:t>1354.440</a:t>
                      </a:r>
                    </a:p>
                  </a:txBody>
                  <a:tcPr marL="38100" marR="38100" marT="30480" marB="30480" anchor="ctr"/>
                </a:tc>
                <a:tc>
                  <a:txBody>
                    <a:bodyPr/>
                    <a:lstStyle/>
                    <a:p>
                      <a:pPr algn="r"/>
                      <a:r>
                        <a:rPr lang="en-US" sz="1200" dirty="0">
                          <a:effectLst/>
                        </a:rPr>
                        <a:t>1423.115</a:t>
                      </a:r>
                    </a:p>
                  </a:txBody>
                  <a:tcPr marL="38100" marR="38100" marT="30480" marB="30480" anchor="ctr"/>
                </a:tc>
                <a:extLst>
                  <a:ext uri="{0D108BD9-81ED-4DB2-BD59-A6C34878D82A}">
                    <a16:rowId xmlns:a16="http://schemas.microsoft.com/office/drawing/2014/main" val="1935744162"/>
                  </a:ext>
                </a:extLst>
              </a:tr>
              <a:tr h="370840">
                <a:tc>
                  <a:txBody>
                    <a:bodyPr/>
                    <a:lstStyle/>
                    <a:p>
                      <a:r>
                        <a:rPr lang="en-US" sz="1100" dirty="0"/>
                        <a:t>WAS</a:t>
                      </a:r>
                    </a:p>
                  </a:txBody>
                  <a:tcPr marL="83191" marR="83191" marT="41595" marB="41595"/>
                </a:tc>
                <a:tc>
                  <a:txBody>
                    <a:bodyPr/>
                    <a:lstStyle/>
                    <a:p>
                      <a:pPr algn="r"/>
                      <a:r>
                        <a:rPr lang="en-US" sz="1200">
                          <a:effectLst/>
                        </a:rPr>
                        <a:t>1499.590</a:t>
                      </a:r>
                    </a:p>
                  </a:txBody>
                  <a:tcPr marL="38100" marR="38100" marT="30480" marB="30480" anchor="ctr"/>
                </a:tc>
                <a:tc>
                  <a:txBody>
                    <a:bodyPr/>
                    <a:lstStyle/>
                    <a:p>
                      <a:pPr algn="r"/>
                      <a:r>
                        <a:rPr lang="en-US" sz="1200" dirty="0">
                          <a:effectLst/>
                        </a:rPr>
                        <a:t>1454.097</a:t>
                      </a:r>
                    </a:p>
                  </a:txBody>
                  <a:tcPr marL="38100" marR="38100" marT="30480" marB="30480" anchor="ctr"/>
                </a:tc>
                <a:tc>
                  <a:txBody>
                    <a:bodyPr/>
                    <a:lstStyle/>
                    <a:p>
                      <a:r>
                        <a:rPr lang="en-US" sz="1200" dirty="0"/>
                        <a:t>MIN</a:t>
                      </a:r>
                    </a:p>
                  </a:txBody>
                  <a:tcPr marL="83191" marR="83191" marT="41595" marB="41595"/>
                </a:tc>
                <a:tc>
                  <a:txBody>
                    <a:bodyPr/>
                    <a:lstStyle/>
                    <a:p>
                      <a:pPr algn="r"/>
                      <a:r>
                        <a:rPr lang="en-US" sz="1200">
                          <a:effectLst/>
                        </a:rPr>
                        <a:t>1500.106</a:t>
                      </a:r>
                    </a:p>
                  </a:txBody>
                  <a:tcPr marL="38100" marR="38100" marT="30480" marB="30480" anchor="ctr"/>
                </a:tc>
                <a:tc>
                  <a:txBody>
                    <a:bodyPr/>
                    <a:lstStyle/>
                    <a:p>
                      <a:pPr algn="r"/>
                      <a:r>
                        <a:rPr lang="en-US" sz="1200" dirty="0">
                          <a:effectLst/>
                        </a:rPr>
                        <a:t>1657.981</a:t>
                      </a:r>
                    </a:p>
                  </a:txBody>
                  <a:tcPr marL="38100" marR="38100" marT="30480" marB="30480" anchor="ctr"/>
                </a:tc>
                <a:tc>
                  <a:txBody>
                    <a:bodyPr/>
                    <a:lstStyle/>
                    <a:p>
                      <a:r>
                        <a:rPr lang="en-US" sz="1200" dirty="0"/>
                        <a:t>TB</a:t>
                      </a:r>
                    </a:p>
                  </a:txBody>
                  <a:tcPr marL="83191" marR="83191" marT="41595" marB="41595"/>
                </a:tc>
                <a:tc>
                  <a:txBody>
                    <a:bodyPr/>
                    <a:lstStyle/>
                    <a:p>
                      <a:pPr algn="r"/>
                      <a:r>
                        <a:rPr lang="en-US" sz="1200">
                          <a:effectLst/>
                        </a:rPr>
                        <a:t>1491.929</a:t>
                      </a:r>
                    </a:p>
                  </a:txBody>
                  <a:tcPr marL="38100" marR="38100" marT="30480" marB="30480" anchor="ctr"/>
                </a:tc>
                <a:tc>
                  <a:txBody>
                    <a:bodyPr/>
                    <a:lstStyle/>
                    <a:p>
                      <a:pPr algn="r"/>
                      <a:r>
                        <a:rPr lang="en-US" sz="1200" dirty="0">
                          <a:effectLst/>
                        </a:rPr>
                        <a:t>1438.551</a:t>
                      </a:r>
                    </a:p>
                  </a:txBody>
                  <a:tcPr marL="38100" marR="38100" marT="30480" marB="30480" anchor="ctr"/>
                </a:tc>
                <a:tc>
                  <a:txBody>
                    <a:bodyPr/>
                    <a:lstStyle/>
                    <a:p>
                      <a:r>
                        <a:rPr lang="en-US" sz="1200" dirty="0"/>
                        <a:t>SEA</a:t>
                      </a:r>
                    </a:p>
                  </a:txBody>
                  <a:tcPr marL="83191" marR="83191" marT="41595" marB="41595"/>
                </a:tc>
                <a:tc>
                  <a:txBody>
                    <a:bodyPr/>
                    <a:lstStyle/>
                    <a:p>
                      <a:pPr algn="r"/>
                      <a:r>
                        <a:rPr lang="en-US" sz="1200" dirty="0">
                          <a:effectLst/>
                        </a:rPr>
                        <a:t>1573.166</a:t>
                      </a:r>
                    </a:p>
                  </a:txBody>
                  <a:tcPr marL="38100" marR="38100" marT="30480" marB="30480" anchor="ctr"/>
                </a:tc>
                <a:tc>
                  <a:txBody>
                    <a:bodyPr/>
                    <a:lstStyle/>
                    <a:p>
                      <a:pPr algn="r"/>
                      <a:r>
                        <a:rPr lang="en-US" sz="1200" dirty="0">
                          <a:effectLst/>
                        </a:rPr>
                        <a:t>1565.782</a:t>
                      </a:r>
                    </a:p>
                  </a:txBody>
                  <a:tcPr marL="38100" marR="38100" marT="30480" marB="30480" anchor="ctr"/>
                </a:tc>
                <a:extLst>
                  <a:ext uri="{0D108BD9-81ED-4DB2-BD59-A6C34878D82A}">
                    <a16:rowId xmlns:a16="http://schemas.microsoft.com/office/drawing/2014/main" val="1321621838"/>
                  </a:ext>
                </a:extLst>
              </a:tr>
            </a:tbl>
          </a:graphicData>
        </a:graphic>
      </p:graphicFrame>
    </p:spTree>
    <p:extLst>
      <p:ext uri="{BB962C8B-B14F-4D97-AF65-F5344CB8AC3E}">
        <p14:creationId xmlns:p14="http://schemas.microsoft.com/office/powerpoint/2010/main" val="1345203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E7770-F1C2-D384-20B6-67F804621391}"/>
              </a:ext>
            </a:extLst>
          </p:cNvPr>
          <p:cNvSpPr>
            <a:spLocks noGrp="1"/>
          </p:cNvSpPr>
          <p:nvPr>
            <p:ph type="title"/>
          </p:nvPr>
        </p:nvSpPr>
        <p:spPr/>
        <p:txBody>
          <a:bodyPr/>
          <a:lstStyle/>
          <a:p>
            <a:r>
              <a:rPr lang="en-US" dirty="0"/>
              <a:t>Elo Ratings Discussion</a:t>
            </a:r>
          </a:p>
        </p:txBody>
      </p:sp>
      <p:sp>
        <p:nvSpPr>
          <p:cNvPr id="3" name="Content Placeholder 2">
            <a:extLst>
              <a:ext uri="{FF2B5EF4-FFF2-40B4-BE49-F238E27FC236}">
                <a16:creationId xmlns:a16="http://schemas.microsoft.com/office/drawing/2014/main" id="{719D3989-9312-6566-9409-0751504BE647}"/>
              </a:ext>
            </a:extLst>
          </p:cNvPr>
          <p:cNvSpPr>
            <a:spLocks noGrp="1"/>
          </p:cNvSpPr>
          <p:nvPr>
            <p:ph idx="1"/>
          </p:nvPr>
        </p:nvSpPr>
        <p:spPr/>
        <p:txBody>
          <a:bodyPr>
            <a:normAutofit/>
          </a:bodyPr>
          <a:lstStyle/>
          <a:p>
            <a:pPr marL="0" indent="0">
              <a:buNone/>
            </a:pPr>
            <a:r>
              <a:rPr lang="en-US" sz="1600" dirty="0"/>
              <a:t>At the beginning of the 2017 season, the Elo ratings suggested that Cleveland was the worst team in the league with a 1330.897 rating, while New England was the best team with a 1685.287. This makes sense because New England is still in their Tom Brady dynasty, winning many consecutive games. At the end of the season, these two teams still were respectively the worst and best teams in the league, however, Cleveland’s Elo dropped to 1193.295 whereas New England’s Elo jumped to 1743.425. The team with the biggest drop in Elo was the New York Giants, dropping about 160 points, whereas the Los Angeles Rams had the biggest gain across the season, gaining 164 points. Over the course of the season, two teams had a net change in Elo less than 10: Dallas gained 3 points and Seattle lost about 7 points. This suggests that these two teams were the most stagnant team as far as performance goes across the 2017 season, whereas the Los Angeles Rams were the most improving team, and the New York Giants were the most declining team.</a:t>
            </a:r>
          </a:p>
        </p:txBody>
      </p:sp>
    </p:spTree>
    <p:extLst>
      <p:ext uri="{BB962C8B-B14F-4D97-AF65-F5344CB8AC3E}">
        <p14:creationId xmlns:p14="http://schemas.microsoft.com/office/powerpoint/2010/main" val="2813186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4"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6"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7"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8"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9"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6" name="Title 5">
            <a:extLst>
              <a:ext uri="{FF2B5EF4-FFF2-40B4-BE49-F238E27FC236}">
                <a16:creationId xmlns:a16="http://schemas.microsoft.com/office/drawing/2014/main" id="{7A4C2F29-7EF7-4765-F205-2E47E05F6F23}"/>
              </a:ext>
            </a:extLst>
          </p:cNvPr>
          <p:cNvSpPr>
            <a:spLocks noGrp="1"/>
          </p:cNvSpPr>
          <p:nvPr>
            <p:ph type="title"/>
          </p:nvPr>
        </p:nvSpPr>
        <p:spPr>
          <a:xfrm>
            <a:off x="4089399" y="4562856"/>
            <a:ext cx="7413623" cy="898149"/>
          </a:xfrm>
        </p:spPr>
        <p:txBody>
          <a:bodyPr vert="horz" lIns="91440" tIns="45720" rIns="91440" bIns="45720" rtlCol="0" anchor="b">
            <a:normAutofit/>
          </a:bodyPr>
          <a:lstStyle/>
          <a:p>
            <a:pPr algn="r">
              <a:lnSpc>
                <a:spcPct val="90000"/>
              </a:lnSpc>
            </a:pPr>
            <a:r>
              <a:rPr lang="en-US" sz="3700"/>
              <a:t>Eagles Elo Ratings Across the Season</a:t>
            </a:r>
          </a:p>
        </p:txBody>
      </p:sp>
      <p:sp>
        <p:nvSpPr>
          <p:cNvPr id="21" name="Rounded Rectangle 6">
            <a:extLst>
              <a:ext uri="{FF2B5EF4-FFF2-40B4-BE49-F238E27FC236}">
                <a16:creationId xmlns:a16="http://schemas.microsoft.com/office/drawing/2014/main" id="{EF263B76-D6AC-40A4-BA2E-CC8B8919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609600"/>
            <a:ext cx="7833360" cy="3633216"/>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064C73B5-9A91-5AD5-49B4-9981DC4A0821}"/>
              </a:ext>
            </a:extLst>
          </p:cNvPr>
          <p:cNvPicPr>
            <a:picLocks noGrp="1" noChangeAspect="1"/>
          </p:cNvPicPr>
          <p:nvPr>
            <p:ph idx="1"/>
          </p:nvPr>
        </p:nvPicPr>
        <p:blipFill>
          <a:blip r:embed="rId3"/>
          <a:stretch>
            <a:fillRect/>
          </a:stretch>
        </p:blipFill>
        <p:spPr bwMode="auto">
          <a:xfrm>
            <a:off x="4852482" y="975360"/>
            <a:ext cx="5561161" cy="2947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873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9E286-8503-7EB0-85F2-C0CFC5DA5181}"/>
              </a:ext>
            </a:extLst>
          </p:cNvPr>
          <p:cNvSpPr>
            <a:spLocks noGrp="1"/>
          </p:cNvSpPr>
          <p:nvPr>
            <p:ph type="title"/>
          </p:nvPr>
        </p:nvSpPr>
        <p:spPr/>
        <p:txBody>
          <a:bodyPr/>
          <a:lstStyle/>
          <a:p>
            <a:r>
              <a:rPr lang="en-US" dirty="0"/>
              <a:t>Eagles Elo Ratings Discussion</a:t>
            </a:r>
          </a:p>
        </p:txBody>
      </p:sp>
      <p:sp>
        <p:nvSpPr>
          <p:cNvPr id="3" name="Content Placeholder 2">
            <a:extLst>
              <a:ext uri="{FF2B5EF4-FFF2-40B4-BE49-F238E27FC236}">
                <a16:creationId xmlns:a16="http://schemas.microsoft.com/office/drawing/2014/main" id="{0248ABAD-9BC0-F19B-AB43-E860724765DB}"/>
              </a:ext>
            </a:extLst>
          </p:cNvPr>
          <p:cNvSpPr>
            <a:spLocks noGrp="1"/>
          </p:cNvSpPr>
          <p:nvPr>
            <p:ph idx="1"/>
          </p:nvPr>
        </p:nvSpPr>
        <p:spPr/>
        <p:txBody>
          <a:bodyPr>
            <a:normAutofit/>
          </a:bodyPr>
          <a:lstStyle/>
          <a:p>
            <a:pPr marL="0" indent="0">
              <a:buNone/>
            </a:pPr>
            <a:r>
              <a:rPr lang="en-US" sz="1400" dirty="0"/>
              <a:t>The Eagles were the Superbowl winners of 2017, and despite having some setbacks in the postseason, their record of 13-4 in the regular season as well as their Elo ratings graph shows that they were the deserved winner. They started the season with an Elo of 1503 and ended the regular season with a rating of  1641. Besides a loss in week 2, the Eagles Elo rapidly increased to 1650 by week 12. A rather big loss in week 11 accounts for a noticeable dip in Elo, however, there is a not as drastic yet steady increase in rating up to  1675 for the next  3 weeks until week 17 where a loss sets them back down to their ending Elo. This loss may not even be characteristic of the true Eagles team at this point, for it was the last game of the regular season and by this point, the Eagles already were the confirmed NFC one seed, so they played their second and third-string players to keep their starters healthy. If their starters played, this last game may have been a win for the Eagles, making their postseason Elo even higher than what is recorded. Overall, the Eagles performed extremely well with no dry spells and a 9-game win streak, improving with each game across the season.</a:t>
            </a:r>
          </a:p>
          <a:p>
            <a:pPr marL="0" indent="0">
              <a:buNone/>
            </a:pPr>
            <a:r>
              <a:rPr lang="en-US" sz="1400" dirty="0"/>
              <a:t>*It is also interesting that despite losing their star starting quarterback with 3 games left in the regular season, their backup was able to win 2 out of the 3 (the third being the throwaway game to rest their starters) and still drive the team through the playoffs to a Superbowl victory. You would expect a team-altering injury would result in a decrease in Elo in the remaining season time, but the Eagles were still able to prevail and increase their Elo.</a:t>
            </a:r>
          </a:p>
        </p:txBody>
      </p:sp>
    </p:spTree>
    <p:extLst>
      <p:ext uri="{BB962C8B-B14F-4D97-AF65-F5344CB8AC3E}">
        <p14:creationId xmlns:p14="http://schemas.microsoft.com/office/powerpoint/2010/main" val="848838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1989A-0914-B42E-7001-A21255DD239B}"/>
              </a:ext>
            </a:extLst>
          </p:cNvPr>
          <p:cNvSpPr>
            <a:spLocks noGrp="1"/>
          </p:cNvSpPr>
          <p:nvPr>
            <p:ph type="title"/>
          </p:nvPr>
        </p:nvSpPr>
        <p:spPr>
          <a:xfrm>
            <a:off x="4245723" y="3656191"/>
            <a:ext cx="9742318" cy="1384980"/>
          </a:xfrm>
        </p:spPr>
        <p:txBody>
          <a:bodyPr>
            <a:normAutofit/>
          </a:bodyPr>
          <a:lstStyle/>
          <a:p>
            <a:r>
              <a:rPr lang="en-US" dirty="0"/>
              <a:t>Monte Carlo Simulation</a:t>
            </a:r>
          </a:p>
        </p:txBody>
      </p:sp>
      <p:graphicFrame>
        <p:nvGraphicFramePr>
          <p:cNvPr id="28" name="Content Placeholder 6">
            <a:extLst>
              <a:ext uri="{FF2B5EF4-FFF2-40B4-BE49-F238E27FC236}">
                <a16:creationId xmlns:a16="http://schemas.microsoft.com/office/drawing/2014/main" id="{9606B715-603F-7A9A-3FA9-3054CF4E70BC}"/>
              </a:ext>
            </a:extLst>
          </p:cNvPr>
          <p:cNvGraphicFramePr>
            <a:graphicFrameLocks noGrp="1"/>
          </p:cNvGraphicFramePr>
          <p:nvPr>
            <p:ph idx="1"/>
            <p:extLst>
              <p:ext uri="{D42A27DB-BD31-4B8C-83A1-F6EECF244321}">
                <p14:modId xmlns:p14="http://schemas.microsoft.com/office/powerpoint/2010/main" val="1740968081"/>
              </p:ext>
            </p:extLst>
          </p:nvPr>
        </p:nvGraphicFramePr>
        <p:xfrm>
          <a:off x="1760705" y="1130072"/>
          <a:ext cx="9742327" cy="2712032"/>
        </p:xfrm>
        <a:graphic>
          <a:graphicData uri="http://schemas.openxmlformats.org/drawingml/2006/table">
            <a:tbl>
              <a:tblPr firstRow="1" bandRow="1">
                <a:tableStyleId>{5C22544A-7EE6-4342-B048-85BDC9FD1C3A}</a:tableStyleId>
              </a:tblPr>
              <a:tblGrid>
                <a:gridCol w="537853">
                  <a:extLst>
                    <a:ext uri="{9D8B030D-6E8A-4147-A177-3AD203B41FA5}">
                      <a16:colId xmlns:a16="http://schemas.microsoft.com/office/drawing/2014/main" val="3463268795"/>
                    </a:ext>
                  </a:extLst>
                </a:gridCol>
                <a:gridCol w="641842">
                  <a:extLst>
                    <a:ext uri="{9D8B030D-6E8A-4147-A177-3AD203B41FA5}">
                      <a16:colId xmlns:a16="http://schemas.microsoft.com/office/drawing/2014/main" val="2661920387"/>
                    </a:ext>
                  </a:extLst>
                </a:gridCol>
                <a:gridCol w="590368">
                  <a:extLst>
                    <a:ext uri="{9D8B030D-6E8A-4147-A177-3AD203B41FA5}">
                      <a16:colId xmlns:a16="http://schemas.microsoft.com/office/drawing/2014/main" val="1591833645"/>
                    </a:ext>
                  </a:extLst>
                </a:gridCol>
                <a:gridCol w="588403">
                  <a:extLst>
                    <a:ext uri="{9D8B030D-6E8A-4147-A177-3AD203B41FA5}">
                      <a16:colId xmlns:a16="http://schemas.microsoft.com/office/drawing/2014/main" val="2086736834"/>
                    </a:ext>
                  </a:extLst>
                </a:gridCol>
                <a:gridCol w="513786">
                  <a:extLst>
                    <a:ext uri="{9D8B030D-6E8A-4147-A177-3AD203B41FA5}">
                      <a16:colId xmlns:a16="http://schemas.microsoft.com/office/drawing/2014/main" val="3486591286"/>
                    </a:ext>
                  </a:extLst>
                </a:gridCol>
                <a:gridCol w="641842">
                  <a:extLst>
                    <a:ext uri="{9D8B030D-6E8A-4147-A177-3AD203B41FA5}">
                      <a16:colId xmlns:a16="http://schemas.microsoft.com/office/drawing/2014/main" val="1562264645"/>
                    </a:ext>
                  </a:extLst>
                </a:gridCol>
                <a:gridCol w="553741">
                  <a:extLst>
                    <a:ext uri="{9D8B030D-6E8A-4147-A177-3AD203B41FA5}">
                      <a16:colId xmlns:a16="http://schemas.microsoft.com/office/drawing/2014/main" val="3763066264"/>
                    </a:ext>
                  </a:extLst>
                </a:gridCol>
                <a:gridCol w="588403">
                  <a:extLst>
                    <a:ext uri="{9D8B030D-6E8A-4147-A177-3AD203B41FA5}">
                      <a16:colId xmlns:a16="http://schemas.microsoft.com/office/drawing/2014/main" val="1983931118"/>
                    </a:ext>
                  </a:extLst>
                </a:gridCol>
                <a:gridCol w="542186">
                  <a:extLst>
                    <a:ext uri="{9D8B030D-6E8A-4147-A177-3AD203B41FA5}">
                      <a16:colId xmlns:a16="http://schemas.microsoft.com/office/drawing/2014/main" val="1768688110"/>
                    </a:ext>
                  </a:extLst>
                </a:gridCol>
                <a:gridCol w="641842">
                  <a:extLst>
                    <a:ext uri="{9D8B030D-6E8A-4147-A177-3AD203B41FA5}">
                      <a16:colId xmlns:a16="http://schemas.microsoft.com/office/drawing/2014/main" val="2728055455"/>
                    </a:ext>
                  </a:extLst>
                </a:gridCol>
                <a:gridCol w="553984">
                  <a:extLst>
                    <a:ext uri="{9D8B030D-6E8A-4147-A177-3AD203B41FA5}">
                      <a16:colId xmlns:a16="http://schemas.microsoft.com/office/drawing/2014/main" val="3508720528"/>
                    </a:ext>
                  </a:extLst>
                </a:gridCol>
                <a:gridCol w="588160">
                  <a:extLst>
                    <a:ext uri="{9D8B030D-6E8A-4147-A177-3AD203B41FA5}">
                      <a16:colId xmlns:a16="http://schemas.microsoft.com/office/drawing/2014/main" val="470981166"/>
                    </a:ext>
                  </a:extLst>
                </a:gridCol>
                <a:gridCol w="554236">
                  <a:extLst>
                    <a:ext uri="{9D8B030D-6E8A-4147-A177-3AD203B41FA5}">
                      <a16:colId xmlns:a16="http://schemas.microsoft.com/office/drawing/2014/main" val="2291387287"/>
                    </a:ext>
                  </a:extLst>
                </a:gridCol>
                <a:gridCol w="641842">
                  <a:extLst>
                    <a:ext uri="{9D8B030D-6E8A-4147-A177-3AD203B41FA5}">
                      <a16:colId xmlns:a16="http://schemas.microsoft.com/office/drawing/2014/main" val="58726552"/>
                    </a:ext>
                  </a:extLst>
                </a:gridCol>
                <a:gridCol w="611802">
                  <a:extLst>
                    <a:ext uri="{9D8B030D-6E8A-4147-A177-3AD203B41FA5}">
                      <a16:colId xmlns:a16="http://schemas.microsoft.com/office/drawing/2014/main" val="651911013"/>
                    </a:ext>
                  </a:extLst>
                </a:gridCol>
                <a:gridCol w="952037">
                  <a:extLst>
                    <a:ext uri="{9D8B030D-6E8A-4147-A177-3AD203B41FA5}">
                      <a16:colId xmlns:a16="http://schemas.microsoft.com/office/drawing/2014/main" val="3813751274"/>
                    </a:ext>
                  </a:extLst>
                </a:gridCol>
              </a:tblGrid>
              <a:tr h="449232">
                <a:tc>
                  <a:txBody>
                    <a:bodyPr/>
                    <a:lstStyle/>
                    <a:p>
                      <a:endParaRPr lang="en-US" sz="1600"/>
                    </a:p>
                  </a:txBody>
                  <a:tcPr marL="83191" marR="83191" marT="41595" marB="41595"/>
                </a:tc>
                <a:tc>
                  <a:txBody>
                    <a:bodyPr/>
                    <a:lstStyle/>
                    <a:p>
                      <a:r>
                        <a:rPr lang="en-US" sz="1100"/>
                        <a:t>Actual</a:t>
                      </a:r>
                    </a:p>
                    <a:p>
                      <a:r>
                        <a:rPr lang="en-US" sz="1100"/>
                        <a:t>Wins</a:t>
                      </a:r>
                    </a:p>
                  </a:txBody>
                  <a:tcPr marL="83191" marR="83191" marT="41595" marB="41595"/>
                </a:tc>
                <a:tc>
                  <a:txBody>
                    <a:bodyPr/>
                    <a:lstStyle/>
                    <a:p>
                      <a:r>
                        <a:rPr lang="en-US" sz="1100"/>
                        <a:t>Sim.</a:t>
                      </a:r>
                    </a:p>
                    <a:p>
                      <a:r>
                        <a:rPr lang="en-US" sz="1100"/>
                        <a:t>Wins</a:t>
                      </a:r>
                    </a:p>
                  </a:txBody>
                  <a:tcPr marL="83191" marR="83191" marT="41595" marB="41595"/>
                </a:tc>
                <a:tc>
                  <a:txBody>
                    <a:bodyPr/>
                    <a:lstStyle/>
                    <a:p>
                      <a:r>
                        <a:rPr lang="en-US" sz="1100"/>
                        <a:t>Div.</a:t>
                      </a:r>
                    </a:p>
                    <a:p>
                      <a:r>
                        <a:rPr lang="en-US" sz="1100"/>
                        <a:t>Titles</a:t>
                      </a:r>
                    </a:p>
                  </a:txBody>
                  <a:tcPr marL="83191" marR="83191" marT="41595" marB="41595"/>
                </a:tc>
                <a:tc>
                  <a:txBody>
                    <a:bodyPr/>
                    <a:lstStyle/>
                    <a:p>
                      <a:endParaRPr lang="en-US" sz="1100"/>
                    </a:p>
                  </a:txBody>
                  <a:tcPr marL="83191" marR="83191" marT="41595" marB="41595"/>
                </a:tc>
                <a:tc>
                  <a:txBody>
                    <a:bodyPr/>
                    <a:lstStyle/>
                    <a:p>
                      <a:r>
                        <a:rPr lang="en-US" sz="1100"/>
                        <a:t>Actual</a:t>
                      </a:r>
                    </a:p>
                    <a:p>
                      <a:r>
                        <a:rPr lang="en-US" sz="1100"/>
                        <a:t>Wins</a:t>
                      </a:r>
                    </a:p>
                  </a:txBody>
                  <a:tcPr marL="83191" marR="83191" marT="41595" marB="41595"/>
                </a:tc>
                <a:tc>
                  <a:txBody>
                    <a:bodyPr/>
                    <a:lstStyle/>
                    <a:p>
                      <a:r>
                        <a:rPr lang="en-US" sz="1100"/>
                        <a:t>Sim.</a:t>
                      </a:r>
                    </a:p>
                    <a:p>
                      <a:r>
                        <a:rPr lang="en-US" sz="1100"/>
                        <a:t>Wins</a:t>
                      </a:r>
                    </a:p>
                  </a:txBody>
                  <a:tcPr marL="83191" marR="83191" marT="41595" marB="41595"/>
                </a:tc>
                <a:tc>
                  <a:txBody>
                    <a:bodyPr/>
                    <a:lstStyle/>
                    <a:p>
                      <a:r>
                        <a:rPr lang="en-US" sz="1100"/>
                        <a:t>Div.</a:t>
                      </a:r>
                    </a:p>
                    <a:p>
                      <a:r>
                        <a:rPr lang="en-US" sz="1100"/>
                        <a:t>Titles</a:t>
                      </a:r>
                    </a:p>
                  </a:txBody>
                  <a:tcPr marL="83191" marR="83191" marT="41595" marB="41595"/>
                </a:tc>
                <a:tc>
                  <a:txBody>
                    <a:bodyPr/>
                    <a:lstStyle/>
                    <a:p>
                      <a:endParaRPr lang="en-US" sz="1100"/>
                    </a:p>
                  </a:txBody>
                  <a:tcPr marL="83191" marR="83191" marT="41595" marB="41595"/>
                </a:tc>
                <a:tc>
                  <a:txBody>
                    <a:bodyPr/>
                    <a:lstStyle/>
                    <a:p>
                      <a:r>
                        <a:rPr lang="en-US" sz="1100"/>
                        <a:t>Actual</a:t>
                      </a:r>
                    </a:p>
                    <a:p>
                      <a:r>
                        <a:rPr lang="en-US" sz="1100"/>
                        <a:t>Wins</a:t>
                      </a:r>
                    </a:p>
                  </a:txBody>
                  <a:tcPr marL="83191" marR="83191" marT="41595" marB="41595"/>
                </a:tc>
                <a:tc>
                  <a:txBody>
                    <a:bodyPr/>
                    <a:lstStyle/>
                    <a:p>
                      <a:r>
                        <a:rPr lang="en-US" sz="1100"/>
                        <a:t>Sim.</a:t>
                      </a:r>
                    </a:p>
                    <a:p>
                      <a:r>
                        <a:rPr lang="en-US" sz="1100"/>
                        <a:t>Wins</a:t>
                      </a:r>
                    </a:p>
                  </a:txBody>
                  <a:tcPr marL="83191" marR="83191" marT="41595" marB="41595"/>
                </a:tc>
                <a:tc>
                  <a:txBody>
                    <a:bodyPr/>
                    <a:lstStyle/>
                    <a:p>
                      <a:r>
                        <a:rPr lang="en-US" sz="1100"/>
                        <a:t>Div.</a:t>
                      </a:r>
                    </a:p>
                    <a:p>
                      <a:r>
                        <a:rPr lang="en-US" sz="1100"/>
                        <a:t>Titles</a:t>
                      </a:r>
                    </a:p>
                  </a:txBody>
                  <a:tcPr marL="83191" marR="83191" marT="41595" marB="41595"/>
                </a:tc>
                <a:tc>
                  <a:txBody>
                    <a:bodyPr/>
                    <a:lstStyle/>
                    <a:p>
                      <a:endParaRPr lang="en-US" sz="1100"/>
                    </a:p>
                  </a:txBody>
                  <a:tcPr marL="83191" marR="83191" marT="41595" marB="41595"/>
                </a:tc>
                <a:tc>
                  <a:txBody>
                    <a:bodyPr/>
                    <a:lstStyle/>
                    <a:p>
                      <a:r>
                        <a:rPr lang="en-US" sz="1100"/>
                        <a:t>Actual</a:t>
                      </a:r>
                    </a:p>
                    <a:p>
                      <a:r>
                        <a:rPr lang="en-US" sz="1100"/>
                        <a:t>Wins</a:t>
                      </a:r>
                    </a:p>
                  </a:txBody>
                  <a:tcPr marL="83191" marR="83191" marT="41595" marB="41595"/>
                </a:tc>
                <a:tc>
                  <a:txBody>
                    <a:bodyPr/>
                    <a:lstStyle/>
                    <a:p>
                      <a:r>
                        <a:rPr lang="en-US" sz="1100"/>
                        <a:t>Sim.</a:t>
                      </a:r>
                    </a:p>
                    <a:p>
                      <a:r>
                        <a:rPr lang="en-US" sz="1100"/>
                        <a:t>Wins</a:t>
                      </a:r>
                    </a:p>
                  </a:txBody>
                  <a:tcPr marL="83191" marR="83191" marT="41595" marB="41595"/>
                </a:tc>
                <a:tc>
                  <a:txBody>
                    <a:bodyPr/>
                    <a:lstStyle/>
                    <a:p>
                      <a:r>
                        <a:rPr lang="en-US" sz="1100"/>
                        <a:t>Div.</a:t>
                      </a:r>
                    </a:p>
                    <a:p>
                      <a:r>
                        <a:rPr lang="en-US" sz="1100"/>
                        <a:t>Titles</a:t>
                      </a:r>
                    </a:p>
                  </a:txBody>
                  <a:tcPr marL="83191" marR="83191" marT="41595" marB="41595"/>
                </a:tc>
                <a:extLst>
                  <a:ext uri="{0D108BD9-81ED-4DB2-BD59-A6C34878D82A}">
                    <a16:rowId xmlns:a16="http://schemas.microsoft.com/office/drawing/2014/main" val="3046134766"/>
                  </a:ext>
                </a:extLst>
              </a:tr>
              <a:tr h="282850">
                <a:tc>
                  <a:txBody>
                    <a:bodyPr/>
                    <a:lstStyle/>
                    <a:p>
                      <a:r>
                        <a:rPr lang="en-US" sz="1100" dirty="0"/>
                        <a:t>BUF</a:t>
                      </a:r>
                    </a:p>
                  </a:txBody>
                  <a:tcPr marL="83191" marR="83191" marT="41595" marB="41595"/>
                </a:tc>
                <a:tc>
                  <a:txBody>
                    <a:bodyPr/>
                    <a:lstStyle/>
                    <a:p>
                      <a:r>
                        <a:rPr lang="en-US" sz="1100" dirty="0"/>
                        <a:t>9</a:t>
                      </a:r>
                    </a:p>
                  </a:txBody>
                  <a:tcPr marL="83191" marR="83191" marT="41595" marB="41595"/>
                </a:tc>
                <a:tc>
                  <a:txBody>
                    <a:bodyPr/>
                    <a:lstStyle/>
                    <a:p>
                      <a:pPr algn="r"/>
                      <a:r>
                        <a:rPr lang="en-US" sz="1200" dirty="0">
                          <a:effectLst/>
                        </a:rPr>
                        <a:t>7.4808</a:t>
                      </a:r>
                    </a:p>
                  </a:txBody>
                  <a:tcPr marL="38100" marR="38100" marT="30480" marB="30480" anchor="ctr"/>
                </a:tc>
                <a:tc>
                  <a:txBody>
                    <a:bodyPr/>
                    <a:lstStyle/>
                    <a:p>
                      <a:pPr algn="r"/>
                      <a:r>
                        <a:rPr lang="en-US" sz="1200" dirty="0">
                          <a:effectLst/>
                        </a:rPr>
                        <a:t>0.0445</a:t>
                      </a:r>
                    </a:p>
                  </a:txBody>
                  <a:tcPr marL="38100" marR="38100" marT="30480" marB="30480" anchor="ctr"/>
                </a:tc>
                <a:tc>
                  <a:txBody>
                    <a:bodyPr/>
                    <a:lstStyle/>
                    <a:p>
                      <a:r>
                        <a:rPr lang="en-US" sz="1200" dirty="0"/>
                        <a:t>BAL</a:t>
                      </a:r>
                    </a:p>
                  </a:txBody>
                  <a:tcPr marL="83191" marR="83191" marT="41595" marB="41595"/>
                </a:tc>
                <a:tc>
                  <a:txBody>
                    <a:bodyPr/>
                    <a:lstStyle/>
                    <a:p>
                      <a:r>
                        <a:rPr lang="en-US" sz="1200" dirty="0"/>
                        <a:t>9</a:t>
                      </a:r>
                    </a:p>
                  </a:txBody>
                  <a:tcPr marL="83191" marR="83191" marT="41595" marB="41595"/>
                </a:tc>
                <a:tc>
                  <a:txBody>
                    <a:bodyPr/>
                    <a:lstStyle/>
                    <a:p>
                      <a:pPr algn="r"/>
                      <a:r>
                        <a:rPr lang="en-US" sz="1200">
                          <a:effectLst/>
                        </a:rPr>
                        <a:t>8.9605</a:t>
                      </a:r>
                    </a:p>
                  </a:txBody>
                  <a:tcPr marL="38100" marR="38100" marT="30480" marB="30480" anchor="ctr"/>
                </a:tc>
                <a:tc>
                  <a:txBody>
                    <a:bodyPr/>
                    <a:lstStyle/>
                    <a:p>
                      <a:pPr algn="r"/>
                      <a:r>
                        <a:rPr lang="en-US" sz="1200" dirty="0">
                          <a:effectLst/>
                        </a:rPr>
                        <a:t>0.2005</a:t>
                      </a:r>
                    </a:p>
                  </a:txBody>
                  <a:tcPr marL="38100" marR="38100" marT="30480" marB="30480" anchor="ctr"/>
                </a:tc>
                <a:tc>
                  <a:txBody>
                    <a:bodyPr/>
                    <a:lstStyle/>
                    <a:p>
                      <a:r>
                        <a:rPr lang="en-US" sz="1200" dirty="0"/>
                        <a:t>HOU</a:t>
                      </a:r>
                    </a:p>
                  </a:txBody>
                  <a:tcPr marL="83191" marR="83191" marT="41595" marB="41595"/>
                </a:tc>
                <a:tc>
                  <a:txBody>
                    <a:bodyPr/>
                    <a:lstStyle/>
                    <a:p>
                      <a:r>
                        <a:rPr lang="en-US" sz="1200" dirty="0"/>
                        <a:t>4</a:t>
                      </a:r>
                    </a:p>
                  </a:txBody>
                  <a:tcPr marL="83191" marR="83191" marT="41595" marB="41595"/>
                </a:tc>
                <a:tc>
                  <a:txBody>
                    <a:bodyPr/>
                    <a:lstStyle/>
                    <a:p>
                      <a:pPr algn="r"/>
                      <a:r>
                        <a:rPr lang="en-US" sz="1200" dirty="0">
                          <a:effectLst/>
                        </a:rPr>
                        <a:t>7.3280</a:t>
                      </a:r>
                    </a:p>
                  </a:txBody>
                  <a:tcPr marL="38100" marR="38100" marT="30480" marB="30480" anchor="ctr"/>
                </a:tc>
                <a:tc>
                  <a:txBody>
                    <a:bodyPr/>
                    <a:lstStyle/>
                    <a:p>
                      <a:pPr algn="r"/>
                      <a:r>
                        <a:rPr lang="en-US" sz="1200" dirty="0">
                          <a:effectLst/>
                        </a:rPr>
                        <a:t>0.1800</a:t>
                      </a:r>
                    </a:p>
                  </a:txBody>
                  <a:tcPr marL="38100" marR="38100" marT="30480" marB="30480" anchor="ctr"/>
                </a:tc>
                <a:tc>
                  <a:txBody>
                    <a:bodyPr/>
                    <a:lstStyle/>
                    <a:p>
                      <a:r>
                        <a:rPr lang="en-US" sz="1200" dirty="0"/>
                        <a:t>DEN</a:t>
                      </a:r>
                    </a:p>
                  </a:txBody>
                  <a:tcPr marL="83191" marR="83191" marT="41595" marB="41595"/>
                </a:tc>
                <a:tc>
                  <a:txBody>
                    <a:bodyPr/>
                    <a:lstStyle/>
                    <a:p>
                      <a:r>
                        <a:rPr lang="en-US" sz="1200" dirty="0"/>
                        <a:t>5</a:t>
                      </a:r>
                    </a:p>
                  </a:txBody>
                  <a:tcPr marL="83191" marR="83191" marT="41595" marB="41595"/>
                </a:tc>
                <a:tc>
                  <a:txBody>
                    <a:bodyPr/>
                    <a:lstStyle/>
                    <a:p>
                      <a:pPr algn="r"/>
                      <a:r>
                        <a:rPr lang="en-US" sz="1200">
                          <a:effectLst/>
                        </a:rPr>
                        <a:t>7.9452</a:t>
                      </a:r>
                    </a:p>
                  </a:txBody>
                  <a:tcPr marL="38100" marR="38100" marT="30480" marB="30480" anchor="ctr"/>
                </a:tc>
                <a:tc>
                  <a:txBody>
                    <a:bodyPr/>
                    <a:lstStyle/>
                    <a:p>
                      <a:pPr algn="r"/>
                      <a:r>
                        <a:rPr lang="en-US" sz="1200" dirty="0">
                          <a:effectLst/>
                        </a:rPr>
                        <a:t>0.1191</a:t>
                      </a:r>
                    </a:p>
                  </a:txBody>
                  <a:tcPr marL="38100" marR="38100" marT="30480" marB="30480" anchor="ctr"/>
                </a:tc>
                <a:extLst>
                  <a:ext uri="{0D108BD9-81ED-4DB2-BD59-A6C34878D82A}">
                    <a16:rowId xmlns:a16="http://schemas.microsoft.com/office/drawing/2014/main" val="4062352399"/>
                  </a:ext>
                </a:extLst>
              </a:tr>
              <a:tr h="282850">
                <a:tc>
                  <a:txBody>
                    <a:bodyPr/>
                    <a:lstStyle/>
                    <a:p>
                      <a:r>
                        <a:rPr lang="en-US" sz="1100" dirty="0"/>
                        <a:t>MIA</a:t>
                      </a:r>
                    </a:p>
                  </a:txBody>
                  <a:tcPr marL="83191" marR="83191" marT="41595" marB="41595"/>
                </a:tc>
                <a:tc>
                  <a:txBody>
                    <a:bodyPr/>
                    <a:lstStyle/>
                    <a:p>
                      <a:r>
                        <a:rPr lang="en-US" sz="1100" dirty="0"/>
                        <a:t>6</a:t>
                      </a:r>
                    </a:p>
                  </a:txBody>
                  <a:tcPr marL="83191" marR="83191" marT="41595" marB="41595"/>
                </a:tc>
                <a:tc>
                  <a:txBody>
                    <a:bodyPr/>
                    <a:lstStyle/>
                    <a:p>
                      <a:pPr algn="r"/>
                      <a:r>
                        <a:rPr lang="en-US" sz="1200" dirty="0">
                          <a:effectLst/>
                        </a:rPr>
                        <a:t>6.9463</a:t>
                      </a:r>
                    </a:p>
                  </a:txBody>
                  <a:tcPr marL="38100" marR="38100" marT="30480" marB="30480" anchor="ctr"/>
                </a:tc>
                <a:tc>
                  <a:txBody>
                    <a:bodyPr/>
                    <a:lstStyle/>
                    <a:p>
                      <a:pPr algn="r"/>
                      <a:r>
                        <a:rPr lang="en-US" sz="1200" dirty="0">
                          <a:effectLst/>
                        </a:rPr>
                        <a:t>0.0260</a:t>
                      </a:r>
                    </a:p>
                  </a:txBody>
                  <a:tcPr marL="38100" marR="38100" marT="30480" marB="30480" anchor="ctr"/>
                </a:tc>
                <a:tc>
                  <a:txBody>
                    <a:bodyPr/>
                    <a:lstStyle/>
                    <a:p>
                      <a:r>
                        <a:rPr lang="en-US" sz="1200" dirty="0"/>
                        <a:t>CIN</a:t>
                      </a:r>
                    </a:p>
                  </a:txBody>
                  <a:tcPr marL="83191" marR="83191" marT="41595" marB="41595"/>
                </a:tc>
                <a:tc>
                  <a:txBody>
                    <a:bodyPr/>
                    <a:lstStyle/>
                    <a:p>
                      <a:r>
                        <a:rPr lang="en-US" sz="1200" dirty="0"/>
                        <a:t>7</a:t>
                      </a:r>
                    </a:p>
                  </a:txBody>
                  <a:tcPr marL="83191" marR="83191" marT="41595" marB="41595"/>
                </a:tc>
                <a:tc>
                  <a:txBody>
                    <a:bodyPr/>
                    <a:lstStyle/>
                    <a:p>
                      <a:pPr algn="r"/>
                      <a:r>
                        <a:rPr lang="en-US" sz="1200">
                          <a:effectLst/>
                        </a:rPr>
                        <a:t>7.5523</a:t>
                      </a:r>
                    </a:p>
                  </a:txBody>
                  <a:tcPr marL="38100" marR="38100" marT="30480" marB="30480" anchor="ctr"/>
                </a:tc>
                <a:tc>
                  <a:txBody>
                    <a:bodyPr/>
                    <a:lstStyle/>
                    <a:p>
                      <a:pPr algn="r"/>
                      <a:r>
                        <a:rPr lang="en-US" sz="1200" dirty="0">
                          <a:effectLst/>
                        </a:rPr>
                        <a:t>0.0711</a:t>
                      </a:r>
                    </a:p>
                  </a:txBody>
                  <a:tcPr marL="38100" marR="38100" marT="30480" marB="30480" anchor="ctr"/>
                </a:tc>
                <a:tc>
                  <a:txBody>
                    <a:bodyPr/>
                    <a:lstStyle/>
                    <a:p>
                      <a:r>
                        <a:rPr lang="en-US" sz="1200" dirty="0"/>
                        <a:t>IND</a:t>
                      </a:r>
                    </a:p>
                  </a:txBody>
                  <a:tcPr marL="83191" marR="83191" marT="41595" marB="41595"/>
                </a:tc>
                <a:tc>
                  <a:txBody>
                    <a:bodyPr/>
                    <a:lstStyle/>
                    <a:p>
                      <a:r>
                        <a:rPr lang="en-US" sz="1200" dirty="0"/>
                        <a:t>4</a:t>
                      </a:r>
                    </a:p>
                  </a:txBody>
                  <a:tcPr marL="83191" marR="83191" marT="41595" marB="41595"/>
                </a:tc>
                <a:tc>
                  <a:txBody>
                    <a:bodyPr/>
                    <a:lstStyle/>
                    <a:p>
                      <a:pPr algn="r"/>
                      <a:r>
                        <a:rPr lang="en-US" sz="1200">
                          <a:effectLst/>
                        </a:rPr>
                        <a:t>6.9929</a:t>
                      </a:r>
                    </a:p>
                  </a:txBody>
                  <a:tcPr marL="38100" marR="38100" marT="30480" marB="30480" anchor="ctr"/>
                </a:tc>
                <a:tc>
                  <a:txBody>
                    <a:bodyPr/>
                    <a:lstStyle/>
                    <a:p>
                      <a:pPr algn="r"/>
                      <a:r>
                        <a:rPr lang="en-US" sz="1200" dirty="0">
                          <a:effectLst/>
                        </a:rPr>
                        <a:t>0.1413</a:t>
                      </a:r>
                    </a:p>
                  </a:txBody>
                  <a:tcPr marL="38100" marR="38100" marT="30480" marB="30480" anchor="ctr"/>
                </a:tc>
                <a:tc>
                  <a:txBody>
                    <a:bodyPr/>
                    <a:lstStyle/>
                    <a:p>
                      <a:r>
                        <a:rPr lang="en-US" sz="1200" dirty="0"/>
                        <a:t>KC</a:t>
                      </a:r>
                    </a:p>
                  </a:txBody>
                  <a:tcPr marL="83191" marR="83191" marT="41595" marB="41595"/>
                </a:tc>
                <a:tc>
                  <a:txBody>
                    <a:bodyPr/>
                    <a:lstStyle/>
                    <a:p>
                      <a:r>
                        <a:rPr lang="en-US" sz="1200" dirty="0"/>
                        <a:t>10</a:t>
                      </a:r>
                    </a:p>
                  </a:txBody>
                  <a:tcPr marL="83191" marR="83191" marT="41595" marB="41595"/>
                </a:tc>
                <a:tc>
                  <a:txBody>
                    <a:bodyPr/>
                    <a:lstStyle/>
                    <a:p>
                      <a:pPr algn="r"/>
                      <a:r>
                        <a:rPr lang="en-US" sz="1200" dirty="0">
                          <a:effectLst/>
                        </a:rPr>
                        <a:t>10.8577</a:t>
                      </a:r>
                    </a:p>
                  </a:txBody>
                  <a:tcPr marL="38100" marR="38100" marT="30480" marB="30480" anchor="ctr"/>
                </a:tc>
                <a:tc>
                  <a:txBody>
                    <a:bodyPr/>
                    <a:lstStyle/>
                    <a:p>
                      <a:pPr algn="r"/>
                      <a:r>
                        <a:rPr lang="en-US" sz="1200" dirty="0">
                          <a:effectLst/>
                        </a:rPr>
                        <a:t>0.7538</a:t>
                      </a:r>
                    </a:p>
                  </a:txBody>
                  <a:tcPr marL="38100" marR="38100" marT="30480" marB="30480" anchor="ctr"/>
                </a:tc>
                <a:extLst>
                  <a:ext uri="{0D108BD9-81ED-4DB2-BD59-A6C34878D82A}">
                    <a16:rowId xmlns:a16="http://schemas.microsoft.com/office/drawing/2014/main" val="2611041824"/>
                  </a:ext>
                </a:extLst>
              </a:tr>
              <a:tr h="282850">
                <a:tc>
                  <a:txBody>
                    <a:bodyPr/>
                    <a:lstStyle/>
                    <a:p>
                      <a:r>
                        <a:rPr lang="en-US" sz="1100" dirty="0"/>
                        <a:t>NE</a:t>
                      </a:r>
                    </a:p>
                  </a:txBody>
                  <a:tcPr marL="83191" marR="83191" marT="41595" marB="41595"/>
                </a:tc>
                <a:tc>
                  <a:txBody>
                    <a:bodyPr/>
                    <a:lstStyle/>
                    <a:p>
                      <a:r>
                        <a:rPr lang="en-US" sz="1100" dirty="0"/>
                        <a:t>13</a:t>
                      </a:r>
                    </a:p>
                  </a:txBody>
                  <a:tcPr marL="83191" marR="83191" marT="41595" marB="41595"/>
                </a:tc>
                <a:tc>
                  <a:txBody>
                    <a:bodyPr/>
                    <a:lstStyle/>
                    <a:p>
                      <a:pPr algn="r"/>
                      <a:r>
                        <a:rPr lang="en-US" sz="1200" dirty="0">
                          <a:effectLst/>
                        </a:rPr>
                        <a:t>12.0082</a:t>
                      </a:r>
                    </a:p>
                  </a:txBody>
                  <a:tcPr marL="38100" marR="38100" marT="30480" marB="30480" anchor="ctr"/>
                </a:tc>
                <a:tc>
                  <a:txBody>
                    <a:bodyPr/>
                    <a:lstStyle/>
                    <a:p>
                      <a:pPr algn="r"/>
                      <a:r>
                        <a:rPr lang="en-US" sz="1200" dirty="0">
                          <a:effectLst/>
                        </a:rPr>
                        <a:t>0.9173</a:t>
                      </a:r>
                    </a:p>
                  </a:txBody>
                  <a:tcPr marL="38100" marR="38100" marT="30480" marB="30480" anchor="ctr"/>
                </a:tc>
                <a:tc>
                  <a:txBody>
                    <a:bodyPr/>
                    <a:lstStyle/>
                    <a:p>
                      <a:r>
                        <a:rPr lang="en-US" sz="1200" dirty="0"/>
                        <a:t>CLE</a:t>
                      </a:r>
                    </a:p>
                  </a:txBody>
                  <a:tcPr marL="83191" marR="83191" marT="41595" marB="41595"/>
                </a:tc>
                <a:tc>
                  <a:txBody>
                    <a:bodyPr/>
                    <a:lstStyle/>
                    <a:p>
                      <a:r>
                        <a:rPr lang="en-US" sz="1200" dirty="0"/>
                        <a:t>0</a:t>
                      </a:r>
                    </a:p>
                  </a:txBody>
                  <a:tcPr marL="83191" marR="83191" marT="41595" marB="41595"/>
                </a:tc>
                <a:tc>
                  <a:txBody>
                    <a:bodyPr/>
                    <a:lstStyle/>
                    <a:p>
                      <a:pPr algn="r"/>
                      <a:r>
                        <a:rPr lang="en-US" sz="1200">
                          <a:effectLst/>
                        </a:rPr>
                        <a:t>3.3006</a:t>
                      </a:r>
                    </a:p>
                  </a:txBody>
                  <a:tcPr marL="38100" marR="38100" marT="30480" marB="30480" anchor="ctr"/>
                </a:tc>
                <a:tc>
                  <a:txBody>
                    <a:bodyPr/>
                    <a:lstStyle/>
                    <a:p>
                      <a:pPr algn="r"/>
                      <a:r>
                        <a:rPr lang="en-US" sz="1200" dirty="0">
                          <a:effectLst/>
                        </a:rPr>
                        <a:t>0.0003</a:t>
                      </a:r>
                    </a:p>
                  </a:txBody>
                  <a:tcPr marL="38100" marR="38100" marT="30480" marB="30480" anchor="ctr"/>
                </a:tc>
                <a:tc>
                  <a:txBody>
                    <a:bodyPr/>
                    <a:lstStyle/>
                    <a:p>
                      <a:r>
                        <a:rPr lang="en-US" sz="1200"/>
                        <a:t>JAX</a:t>
                      </a:r>
                    </a:p>
                  </a:txBody>
                  <a:tcPr marL="83191" marR="83191" marT="41595" marB="41595"/>
                </a:tc>
                <a:tc>
                  <a:txBody>
                    <a:bodyPr/>
                    <a:lstStyle/>
                    <a:p>
                      <a:r>
                        <a:rPr lang="en-US" sz="1200" dirty="0"/>
                        <a:t>10</a:t>
                      </a:r>
                    </a:p>
                  </a:txBody>
                  <a:tcPr marL="83191" marR="83191" marT="41595" marB="41595"/>
                </a:tc>
                <a:tc>
                  <a:txBody>
                    <a:bodyPr/>
                    <a:lstStyle/>
                    <a:p>
                      <a:pPr algn="r"/>
                      <a:r>
                        <a:rPr lang="en-US" sz="1200">
                          <a:effectLst/>
                        </a:rPr>
                        <a:t>8.3607</a:t>
                      </a:r>
                    </a:p>
                  </a:txBody>
                  <a:tcPr marL="38100" marR="38100" marT="30480" marB="30480" anchor="ctr"/>
                </a:tc>
                <a:tc>
                  <a:txBody>
                    <a:bodyPr/>
                    <a:lstStyle/>
                    <a:p>
                      <a:pPr algn="r"/>
                      <a:r>
                        <a:rPr lang="en-US" sz="1200" dirty="0">
                          <a:effectLst/>
                        </a:rPr>
                        <a:t>0.3713</a:t>
                      </a:r>
                    </a:p>
                  </a:txBody>
                  <a:tcPr marL="38100" marR="38100" marT="30480" marB="30480" anchor="ctr"/>
                </a:tc>
                <a:tc>
                  <a:txBody>
                    <a:bodyPr/>
                    <a:lstStyle/>
                    <a:p>
                      <a:r>
                        <a:rPr lang="en-US" sz="1200" dirty="0"/>
                        <a:t>LAC</a:t>
                      </a:r>
                    </a:p>
                  </a:txBody>
                  <a:tcPr marL="83191" marR="83191" marT="41595" marB="41595"/>
                </a:tc>
                <a:tc>
                  <a:txBody>
                    <a:bodyPr/>
                    <a:lstStyle/>
                    <a:p>
                      <a:r>
                        <a:rPr lang="en-US" sz="1200" dirty="0"/>
                        <a:t>9</a:t>
                      </a:r>
                    </a:p>
                  </a:txBody>
                  <a:tcPr marL="83191" marR="83191" marT="41595" marB="41595"/>
                </a:tc>
                <a:tc>
                  <a:txBody>
                    <a:bodyPr/>
                    <a:lstStyle/>
                    <a:p>
                      <a:pPr algn="r"/>
                      <a:r>
                        <a:rPr lang="en-US" sz="1200" dirty="0">
                          <a:effectLst/>
                        </a:rPr>
                        <a:t>6.9375</a:t>
                      </a:r>
                    </a:p>
                  </a:txBody>
                  <a:tcPr marL="38100" marR="38100" marT="30480" marB="30480" anchor="ctr"/>
                </a:tc>
                <a:tc>
                  <a:txBody>
                    <a:bodyPr/>
                    <a:lstStyle/>
                    <a:p>
                      <a:pPr algn="r"/>
                      <a:r>
                        <a:rPr lang="en-US" sz="1200" dirty="0">
                          <a:effectLst/>
                        </a:rPr>
                        <a:t>0.0519</a:t>
                      </a:r>
                    </a:p>
                  </a:txBody>
                  <a:tcPr marL="38100" marR="38100" marT="30480" marB="30480" anchor="ctr"/>
                </a:tc>
                <a:extLst>
                  <a:ext uri="{0D108BD9-81ED-4DB2-BD59-A6C34878D82A}">
                    <a16:rowId xmlns:a16="http://schemas.microsoft.com/office/drawing/2014/main" val="271243761"/>
                  </a:ext>
                </a:extLst>
              </a:tr>
              <a:tr h="282850">
                <a:tc>
                  <a:txBody>
                    <a:bodyPr/>
                    <a:lstStyle/>
                    <a:p>
                      <a:r>
                        <a:rPr lang="en-US" sz="1100" dirty="0"/>
                        <a:t>NYJ</a:t>
                      </a:r>
                    </a:p>
                  </a:txBody>
                  <a:tcPr marL="83191" marR="83191" marT="41595" marB="41595"/>
                </a:tc>
                <a:tc>
                  <a:txBody>
                    <a:bodyPr/>
                    <a:lstStyle/>
                    <a:p>
                      <a:r>
                        <a:rPr lang="en-US" sz="1100" dirty="0"/>
                        <a:t>5</a:t>
                      </a:r>
                    </a:p>
                  </a:txBody>
                  <a:tcPr marL="83191" marR="83191" marT="41595" marB="41595"/>
                </a:tc>
                <a:tc>
                  <a:txBody>
                    <a:bodyPr/>
                    <a:lstStyle/>
                    <a:p>
                      <a:pPr algn="r"/>
                      <a:r>
                        <a:rPr lang="en-US" sz="1200" dirty="0">
                          <a:effectLst/>
                        </a:rPr>
                        <a:t>6.2422</a:t>
                      </a:r>
                    </a:p>
                  </a:txBody>
                  <a:tcPr marL="38100" marR="38100" marT="30480" marB="30480" anchor="ctr"/>
                </a:tc>
                <a:tc>
                  <a:txBody>
                    <a:bodyPr/>
                    <a:lstStyle/>
                    <a:p>
                      <a:pPr algn="r"/>
                      <a:r>
                        <a:rPr lang="en-US" sz="1200">
                          <a:effectLst/>
                        </a:rPr>
                        <a:t>0.0122</a:t>
                      </a:r>
                    </a:p>
                  </a:txBody>
                  <a:tcPr marL="38100" marR="38100" marT="30480" marB="30480" anchor="ctr"/>
                </a:tc>
                <a:tc>
                  <a:txBody>
                    <a:bodyPr/>
                    <a:lstStyle/>
                    <a:p>
                      <a:r>
                        <a:rPr lang="en-US" sz="1200" dirty="0">
                          <a:effectLst/>
                        </a:rPr>
                        <a:t>PIT</a:t>
                      </a:r>
                    </a:p>
                  </a:txBody>
                  <a:tcPr marL="38100" marR="38100" marT="30480" marB="30480" anchor="ctr"/>
                </a:tc>
                <a:tc>
                  <a:txBody>
                    <a:bodyPr/>
                    <a:lstStyle/>
                    <a:p>
                      <a:r>
                        <a:rPr lang="en-US" sz="1200" dirty="0"/>
                        <a:t>13</a:t>
                      </a:r>
                    </a:p>
                  </a:txBody>
                  <a:tcPr marL="83191" marR="83191" marT="41595" marB="41595"/>
                </a:tc>
                <a:tc>
                  <a:txBody>
                    <a:bodyPr/>
                    <a:lstStyle/>
                    <a:p>
                      <a:pPr algn="r"/>
                      <a:r>
                        <a:rPr lang="en-US" sz="1200">
                          <a:effectLst/>
                        </a:rPr>
                        <a:t>10.9775</a:t>
                      </a:r>
                    </a:p>
                  </a:txBody>
                  <a:tcPr marL="38100" marR="38100" marT="30480" marB="30480" anchor="ctr"/>
                </a:tc>
                <a:tc>
                  <a:txBody>
                    <a:bodyPr/>
                    <a:lstStyle/>
                    <a:p>
                      <a:pPr algn="r"/>
                      <a:r>
                        <a:rPr lang="en-US" sz="1200" dirty="0">
                          <a:effectLst/>
                        </a:rPr>
                        <a:t>0.7281</a:t>
                      </a:r>
                    </a:p>
                  </a:txBody>
                  <a:tcPr marL="38100" marR="38100" marT="30480" marB="30480" anchor="ctr"/>
                </a:tc>
                <a:tc>
                  <a:txBody>
                    <a:bodyPr/>
                    <a:lstStyle/>
                    <a:p>
                      <a:r>
                        <a:rPr lang="en-US" sz="1200" dirty="0"/>
                        <a:t>TEN</a:t>
                      </a:r>
                    </a:p>
                  </a:txBody>
                  <a:tcPr marL="83191" marR="83191" marT="41595" marB="41595"/>
                </a:tc>
                <a:tc>
                  <a:txBody>
                    <a:bodyPr/>
                    <a:lstStyle/>
                    <a:p>
                      <a:r>
                        <a:rPr lang="en-US" sz="1200" dirty="0"/>
                        <a:t>9</a:t>
                      </a:r>
                    </a:p>
                  </a:txBody>
                  <a:tcPr marL="83191" marR="83191" marT="41595" marB="41595"/>
                </a:tc>
                <a:tc>
                  <a:txBody>
                    <a:bodyPr/>
                    <a:lstStyle/>
                    <a:p>
                      <a:pPr algn="r"/>
                      <a:r>
                        <a:rPr lang="en-US" sz="1200">
                          <a:effectLst/>
                        </a:rPr>
                        <a:t>8.0490</a:t>
                      </a:r>
                    </a:p>
                  </a:txBody>
                  <a:tcPr marL="38100" marR="38100" marT="30480" marB="30480" anchor="ctr"/>
                </a:tc>
                <a:tc>
                  <a:txBody>
                    <a:bodyPr/>
                    <a:lstStyle/>
                    <a:p>
                      <a:pPr algn="r"/>
                      <a:r>
                        <a:rPr lang="en-US" sz="1200" dirty="0">
                          <a:effectLst/>
                        </a:rPr>
                        <a:t>0.3074</a:t>
                      </a:r>
                    </a:p>
                  </a:txBody>
                  <a:tcPr marL="38100" marR="38100" marT="30480" marB="30480" anchor="ctr"/>
                </a:tc>
                <a:tc>
                  <a:txBody>
                    <a:bodyPr/>
                    <a:lstStyle/>
                    <a:p>
                      <a:r>
                        <a:rPr lang="en-US" sz="1200" dirty="0"/>
                        <a:t>LV</a:t>
                      </a:r>
                    </a:p>
                  </a:txBody>
                  <a:tcPr marL="83191" marR="83191" marT="41595" marB="41595"/>
                </a:tc>
                <a:tc>
                  <a:txBody>
                    <a:bodyPr/>
                    <a:lstStyle/>
                    <a:p>
                      <a:r>
                        <a:rPr lang="en-US" sz="1200" dirty="0"/>
                        <a:t>6</a:t>
                      </a:r>
                    </a:p>
                  </a:txBody>
                  <a:tcPr marL="83191" marR="83191" marT="41595" marB="41595"/>
                </a:tc>
                <a:tc>
                  <a:txBody>
                    <a:bodyPr/>
                    <a:lstStyle/>
                    <a:p>
                      <a:pPr algn="r"/>
                      <a:r>
                        <a:rPr lang="en-US" sz="1200">
                          <a:effectLst/>
                        </a:rPr>
                        <a:t>7.4167</a:t>
                      </a:r>
                    </a:p>
                  </a:txBody>
                  <a:tcPr marL="38100" marR="38100" marT="30480" marB="30480" anchor="ctr"/>
                </a:tc>
                <a:tc>
                  <a:txBody>
                    <a:bodyPr/>
                    <a:lstStyle/>
                    <a:p>
                      <a:pPr algn="r"/>
                      <a:r>
                        <a:rPr lang="en-US" sz="1200" dirty="0">
                          <a:effectLst/>
                        </a:rPr>
                        <a:t>0.0752</a:t>
                      </a:r>
                    </a:p>
                  </a:txBody>
                  <a:tcPr marL="38100" marR="38100" marT="30480" marB="30480" anchor="ctr"/>
                </a:tc>
                <a:extLst>
                  <a:ext uri="{0D108BD9-81ED-4DB2-BD59-A6C34878D82A}">
                    <a16:rowId xmlns:a16="http://schemas.microsoft.com/office/drawing/2014/main" val="1695241341"/>
                  </a:ext>
                </a:extLst>
              </a:tr>
              <a:tr h="282850">
                <a:tc>
                  <a:txBody>
                    <a:bodyPr/>
                    <a:lstStyle/>
                    <a:p>
                      <a:r>
                        <a:rPr lang="en-US" sz="1100" dirty="0"/>
                        <a:t>DAL</a:t>
                      </a:r>
                    </a:p>
                  </a:txBody>
                  <a:tcPr marL="83191" marR="83191" marT="41595" marB="41595"/>
                </a:tc>
                <a:tc>
                  <a:txBody>
                    <a:bodyPr/>
                    <a:lstStyle/>
                    <a:p>
                      <a:r>
                        <a:rPr lang="en-US" sz="1100" dirty="0"/>
                        <a:t>9</a:t>
                      </a:r>
                    </a:p>
                  </a:txBody>
                  <a:tcPr marL="83191" marR="83191" marT="41595" marB="41595"/>
                </a:tc>
                <a:tc>
                  <a:txBody>
                    <a:bodyPr/>
                    <a:lstStyle/>
                    <a:p>
                      <a:pPr algn="r"/>
                      <a:r>
                        <a:rPr lang="en-US" sz="1200" dirty="0">
                          <a:effectLst/>
                        </a:rPr>
                        <a:t>8.8120</a:t>
                      </a:r>
                    </a:p>
                  </a:txBody>
                  <a:tcPr marL="38100" marR="38100" marT="30480" marB="30480" anchor="ctr"/>
                </a:tc>
                <a:tc>
                  <a:txBody>
                    <a:bodyPr/>
                    <a:lstStyle/>
                    <a:p>
                      <a:pPr algn="r"/>
                      <a:r>
                        <a:rPr lang="en-US" sz="1200" dirty="0">
                          <a:effectLst/>
                        </a:rPr>
                        <a:t>0.2827</a:t>
                      </a:r>
                    </a:p>
                  </a:txBody>
                  <a:tcPr marL="38100" marR="38100" marT="30480" marB="30480" anchor="ctr"/>
                </a:tc>
                <a:tc>
                  <a:txBody>
                    <a:bodyPr/>
                    <a:lstStyle/>
                    <a:p>
                      <a:r>
                        <a:rPr lang="en-US" sz="1200" dirty="0"/>
                        <a:t>CHI</a:t>
                      </a:r>
                    </a:p>
                  </a:txBody>
                  <a:tcPr marL="83191" marR="83191" marT="41595" marB="41595"/>
                </a:tc>
                <a:tc>
                  <a:txBody>
                    <a:bodyPr/>
                    <a:lstStyle/>
                    <a:p>
                      <a:r>
                        <a:rPr lang="en-US" sz="1200" dirty="0"/>
                        <a:t>5</a:t>
                      </a:r>
                    </a:p>
                  </a:txBody>
                  <a:tcPr marL="83191" marR="83191" marT="41595" marB="41595"/>
                </a:tc>
                <a:tc>
                  <a:txBody>
                    <a:bodyPr/>
                    <a:lstStyle/>
                    <a:p>
                      <a:pPr algn="r"/>
                      <a:r>
                        <a:rPr lang="en-US" sz="1200">
                          <a:effectLst/>
                        </a:rPr>
                        <a:t>5.2911</a:t>
                      </a:r>
                    </a:p>
                  </a:txBody>
                  <a:tcPr marL="38100" marR="38100" marT="30480" marB="30480" anchor="ctr"/>
                </a:tc>
                <a:tc>
                  <a:txBody>
                    <a:bodyPr/>
                    <a:lstStyle/>
                    <a:p>
                      <a:pPr algn="r"/>
                      <a:r>
                        <a:rPr lang="en-US" sz="1200" dirty="0">
                          <a:effectLst/>
                        </a:rPr>
                        <a:t>0.0135</a:t>
                      </a:r>
                    </a:p>
                  </a:txBody>
                  <a:tcPr marL="38100" marR="38100" marT="30480" marB="30480" anchor="ctr"/>
                </a:tc>
                <a:tc>
                  <a:txBody>
                    <a:bodyPr/>
                    <a:lstStyle/>
                    <a:p>
                      <a:r>
                        <a:rPr lang="en-US" sz="1200" dirty="0"/>
                        <a:t>ATL</a:t>
                      </a:r>
                    </a:p>
                  </a:txBody>
                  <a:tcPr marL="83191" marR="83191" marT="41595" marB="41595"/>
                </a:tc>
                <a:tc>
                  <a:txBody>
                    <a:bodyPr/>
                    <a:lstStyle/>
                    <a:p>
                      <a:r>
                        <a:rPr lang="en-US" sz="1200" dirty="0"/>
                        <a:t>10</a:t>
                      </a:r>
                    </a:p>
                  </a:txBody>
                  <a:tcPr marL="83191" marR="83191" marT="41595" marB="41595"/>
                </a:tc>
                <a:tc>
                  <a:txBody>
                    <a:bodyPr/>
                    <a:lstStyle/>
                    <a:p>
                      <a:pPr algn="r"/>
                      <a:r>
                        <a:rPr lang="en-US" sz="1200">
                          <a:effectLst/>
                        </a:rPr>
                        <a:t>9.4770</a:t>
                      </a:r>
                    </a:p>
                  </a:txBody>
                  <a:tcPr marL="38100" marR="38100" marT="30480" marB="30480" anchor="ctr"/>
                </a:tc>
                <a:tc>
                  <a:txBody>
                    <a:bodyPr/>
                    <a:lstStyle/>
                    <a:p>
                      <a:pPr algn="r"/>
                      <a:r>
                        <a:rPr lang="en-US" sz="1200" dirty="0">
                          <a:effectLst/>
                        </a:rPr>
                        <a:t>0.4090</a:t>
                      </a:r>
                    </a:p>
                  </a:txBody>
                  <a:tcPr marL="38100" marR="38100" marT="30480" marB="30480" anchor="ctr"/>
                </a:tc>
                <a:tc>
                  <a:txBody>
                    <a:bodyPr/>
                    <a:lstStyle/>
                    <a:p>
                      <a:r>
                        <a:rPr lang="en-US" sz="1200" dirty="0"/>
                        <a:t>ARZ</a:t>
                      </a:r>
                    </a:p>
                  </a:txBody>
                  <a:tcPr marL="83191" marR="83191" marT="41595" marB="41595"/>
                </a:tc>
                <a:tc>
                  <a:txBody>
                    <a:bodyPr/>
                    <a:lstStyle/>
                    <a:p>
                      <a:r>
                        <a:rPr lang="en-US" sz="1200" dirty="0"/>
                        <a:t>8</a:t>
                      </a:r>
                    </a:p>
                  </a:txBody>
                  <a:tcPr marL="83191" marR="83191" marT="41595" marB="41595"/>
                </a:tc>
                <a:tc>
                  <a:txBody>
                    <a:bodyPr/>
                    <a:lstStyle/>
                    <a:p>
                      <a:pPr algn="r"/>
                      <a:r>
                        <a:rPr lang="en-US" sz="1200">
                          <a:effectLst/>
                        </a:rPr>
                        <a:t>8.1508</a:t>
                      </a:r>
                    </a:p>
                  </a:txBody>
                  <a:tcPr marL="38100" marR="38100" marT="30480" marB="30480" anchor="ctr"/>
                </a:tc>
                <a:tc>
                  <a:txBody>
                    <a:bodyPr/>
                    <a:lstStyle/>
                    <a:p>
                      <a:pPr algn="r"/>
                      <a:r>
                        <a:rPr lang="en-US" sz="1200" dirty="0">
                          <a:effectLst/>
                        </a:rPr>
                        <a:t>0.2187</a:t>
                      </a:r>
                    </a:p>
                  </a:txBody>
                  <a:tcPr marL="38100" marR="38100" marT="30480" marB="30480" anchor="ctr"/>
                </a:tc>
                <a:extLst>
                  <a:ext uri="{0D108BD9-81ED-4DB2-BD59-A6C34878D82A}">
                    <a16:rowId xmlns:a16="http://schemas.microsoft.com/office/drawing/2014/main" val="2009266147"/>
                  </a:ext>
                </a:extLst>
              </a:tr>
              <a:tr h="282850">
                <a:tc>
                  <a:txBody>
                    <a:bodyPr/>
                    <a:lstStyle/>
                    <a:p>
                      <a:r>
                        <a:rPr lang="en-US" sz="1100" dirty="0"/>
                        <a:t>NYG</a:t>
                      </a:r>
                    </a:p>
                  </a:txBody>
                  <a:tcPr marL="83191" marR="83191" marT="41595" marB="41595"/>
                </a:tc>
                <a:tc>
                  <a:txBody>
                    <a:bodyPr/>
                    <a:lstStyle/>
                    <a:p>
                      <a:r>
                        <a:rPr lang="en-US" sz="1100" dirty="0"/>
                        <a:t>3</a:t>
                      </a:r>
                    </a:p>
                  </a:txBody>
                  <a:tcPr marL="83191" marR="83191" marT="41595" marB="41595"/>
                </a:tc>
                <a:tc>
                  <a:txBody>
                    <a:bodyPr/>
                    <a:lstStyle/>
                    <a:p>
                      <a:pPr algn="r"/>
                      <a:r>
                        <a:rPr lang="en-US" sz="1200">
                          <a:effectLst/>
                        </a:rPr>
                        <a:t>6.2983</a:t>
                      </a:r>
                    </a:p>
                  </a:txBody>
                  <a:tcPr marL="38100" marR="38100" marT="30480" marB="30480" anchor="ctr"/>
                </a:tc>
                <a:tc>
                  <a:txBody>
                    <a:bodyPr/>
                    <a:lstStyle/>
                    <a:p>
                      <a:pPr algn="r"/>
                      <a:r>
                        <a:rPr lang="en-US" sz="1200" dirty="0">
                          <a:effectLst/>
                        </a:rPr>
                        <a:t>0.0396</a:t>
                      </a:r>
                    </a:p>
                  </a:txBody>
                  <a:tcPr marL="38100" marR="38100" marT="30480" marB="30480" anchor="ctr"/>
                </a:tc>
                <a:tc>
                  <a:txBody>
                    <a:bodyPr/>
                    <a:lstStyle/>
                    <a:p>
                      <a:r>
                        <a:rPr lang="en-US" sz="1200" dirty="0"/>
                        <a:t>DET</a:t>
                      </a:r>
                    </a:p>
                  </a:txBody>
                  <a:tcPr marL="83191" marR="83191" marT="41595" marB="41595"/>
                </a:tc>
                <a:tc>
                  <a:txBody>
                    <a:bodyPr/>
                    <a:lstStyle/>
                    <a:p>
                      <a:r>
                        <a:rPr lang="en-US" sz="1200" dirty="0"/>
                        <a:t>9</a:t>
                      </a:r>
                    </a:p>
                  </a:txBody>
                  <a:tcPr marL="83191" marR="83191" marT="41595" marB="41595"/>
                </a:tc>
                <a:tc>
                  <a:txBody>
                    <a:bodyPr/>
                    <a:lstStyle/>
                    <a:p>
                      <a:pPr algn="r"/>
                      <a:r>
                        <a:rPr lang="en-US" sz="1200">
                          <a:effectLst/>
                        </a:rPr>
                        <a:t>8.5727</a:t>
                      </a:r>
                    </a:p>
                  </a:txBody>
                  <a:tcPr marL="38100" marR="38100" marT="30480" marB="30480" anchor="ctr"/>
                </a:tc>
                <a:tc>
                  <a:txBody>
                    <a:bodyPr/>
                    <a:lstStyle/>
                    <a:p>
                      <a:pPr algn="r"/>
                      <a:r>
                        <a:rPr lang="en-US" sz="1200" dirty="0">
                          <a:effectLst/>
                        </a:rPr>
                        <a:t>0.2490</a:t>
                      </a:r>
                    </a:p>
                  </a:txBody>
                  <a:tcPr marL="38100" marR="38100" marT="30480" marB="30480" anchor="ctr"/>
                </a:tc>
                <a:tc>
                  <a:txBody>
                    <a:bodyPr/>
                    <a:lstStyle/>
                    <a:p>
                      <a:r>
                        <a:rPr lang="en-US" sz="1200" dirty="0"/>
                        <a:t>CAR</a:t>
                      </a:r>
                    </a:p>
                  </a:txBody>
                  <a:tcPr marL="83191" marR="83191" marT="41595" marB="41595"/>
                </a:tc>
                <a:tc>
                  <a:txBody>
                    <a:bodyPr/>
                    <a:lstStyle/>
                    <a:p>
                      <a:r>
                        <a:rPr lang="en-US" sz="1200" dirty="0"/>
                        <a:t>11</a:t>
                      </a:r>
                    </a:p>
                  </a:txBody>
                  <a:tcPr marL="83191" marR="83191" marT="41595" marB="41595"/>
                </a:tc>
                <a:tc>
                  <a:txBody>
                    <a:bodyPr/>
                    <a:lstStyle/>
                    <a:p>
                      <a:pPr algn="r"/>
                      <a:r>
                        <a:rPr lang="en-US" sz="1200" dirty="0">
                          <a:effectLst/>
                        </a:rPr>
                        <a:t>8.7887</a:t>
                      </a:r>
                    </a:p>
                  </a:txBody>
                  <a:tcPr marL="38100" marR="38100" marT="30480" marB="30480" anchor="ctr"/>
                </a:tc>
                <a:tc>
                  <a:txBody>
                    <a:bodyPr/>
                    <a:lstStyle/>
                    <a:p>
                      <a:pPr algn="r"/>
                      <a:r>
                        <a:rPr lang="en-US" sz="1200" dirty="0">
                          <a:effectLst/>
                        </a:rPr>
                        <a:t>0.2552</a:t>
                      </a:r>
                    </a:p>
                  </a:txBody>
                  <a:tcPr marL="38100" marR="38100" marT="30480" marB="30480" anchor="ctr"/>
                </a:tc>
                <a:tc>
                  <a:txBody>
                    <a:bodyPr/>
                    <a:lstStyle/>
                    <a:p>
                      <a:r>
                        <a:rPr lang="en-US" sz="1200" dirty="0"/>
                        <a:t>LAR</a:t>
                      </a:r>
                    </a:p>
                  </a:txBody>
                  <a:tcPr marL="83191" marR="83191" marT="41595" marB="41595"/>
                </a:tc>
                <a:tc>
                  <a:txBody>
                    <a:bodyPr/>
                    <a:lstStyle/>
                    <a:p>
                      <a:r>
                        <a:rPr lang="en-US" sz="1200" dirty="0"/>
                        <a:t>11</a:t>
                      </a:r>
                    </a:p>
                  </a:txBody>
                  <a:tcPr marL="83191" marR="83191" marT="41595" marB="41595"/>
                </a:tc>
                <a:tc>
                  <a:txBody>
                    <a:bodyPr/>
                    <a:lstStyle/>
                    <a:p>
                      <a:pPr algn="r"/>
                      <a:r>
                        <a:rPr lang="en-US" sz="1200" dirty="0">
                          <a:effectLst/>
                        </a:rPr>
                        <a:t>7.7971</a:t>
                      </a:r>
                    </a:p>
                  </a:txBody>
                  <a:tcPr marL="38100" marR="38100" marT="30480" marB="30480" anchor="ctr"/>
                </a:tc>
                <a:tc>
                  <a:txBody>
                    <a:bodyPr/>
                    <a:lstStyle/>
                    <a:p>
                      <a:pPr algn="r"/>
                      <a:r>
                        <a:rPr lang="en-US" sz="1200" dirty="0">
                          <a:effectLst/>
                        </a:rPr>
                        <a:t>0.1689</a:t>
                      </a:r>
                    </a:p>
                  </a:txBody>
                  <a:tcPr marL="38100" marR="38100" marT="30480" marB="30480" anchor="ctr"/>
                </a:tc>
                <a:extLst>
                  <a:ext uri="{0D108BD9-81ED-4DB2-BD59-A6C34878D82A}">
                    <a16:rowId xmlns:a16="http://schemas.microsoft.com/office/drawing/2014/main" val="4020849045"/>
                  </a:ext>
                </a:extLst>
              </a:tr>
              <a:tr h="282850">
                <a:tc>
                  <a:txBody>
                    <a:bodyPr/>
                    <a:lstStyle/>
                    <a:p>
                      <a:r>
                        <a:rPr lang="en-US" sz="1100" dirty="0"/>
                        <a:t>PHI</a:t>
                      </a:r>
                    </a:p>
                  </a:txBody>
                  <a:tcPr marL="83191" marR="83191" marT="41595" marB="41595"/>
                </a:tc>
                <a:tc>
                  <a:txBody>
                    <a:bodyPr/>
                    <a:lstStyle/>
                    <a:p>
                      <a:r>
                        <a:rPr lang="en-US" sz="1100" dirty="0"/>
                        <a:t>13</a:t>
                      </a:r>
                    </a:p>
                  </a:txBody>
                  <a:tcPr marL="83191" marR="83191" marT="41595" marB="41595"/>
                </a:tc>
                <a:tc>
                  <a:txBody>
                    <a:bodyPr/>
                    <a:lstStyle/>
                    <a:p>
                      <a:pPr algn="r"/>
                      <a:r>
                        <a:rPr lang="en-US" sz="1200">
                          <a:effectLst/>
                        </a:rPr>
                        <a:t>9.9556</a:t>
                      </a:r>
                    </a:p>
                  </a:txBody>
                  <a:tcPr marL="38100" marR="38100" marT="30480" marB="30480" anchor="ctr"/>
                </a:tc>
                <a:tc>
                  <a:txBody>
                    <a:bodyPr/>
                    <a:lstStyle/>
                    <a:p>
                      <a:pPr algn="r"/>
                      <a:r>
                        <a:rPr lang="en-US" sz="1200" dirty="0">
                          <a:effectLst/>
                        </a:rPr>
                        <a:t>0.5627</a:t>
                      </a:r>
                    </a:p>
                  </a:txBody>
                  <a:tcPr marL="38100" marR="38100" marT="30480" marB="30480" anchor="ctr"/>
                </a:tc>
                <a:tc>
                  <a:txBody>
                    <a:bodyPr/>
                    <a:lstStyle/>
                    <a:p>
                      <a:r>
                        <a:rPr lang="en-US" sz="1200" dirty="0"/>
                        <a:t>GB</a:t>
                      </a:r>
                    </a:p>
                  </a:txBody>
                  <a:tcPr marL="83191" marR="83191" marT="41595" marB="41595"/>
                </a:tc>
                <a:tc>
                  <a:txBody>
                    <a:bodyPr/>
                    <a:lstStyle/>
                    <a:p>
                      <a:r>
                        <a:rPr lang="en-US" sz="1200" dirty="0"/>
                        <a:t>7</a:t>
                      </a:r>
                    </a:p>
                  </a:txBody>
                  <a:tcPr marL="83191" marR="83191" marT="41595" marB="41595"/>
                </a:tc>
                <a:tc>
                  <a:txBody>
                    <a:bodyPr/>
                    <a:lstStyle/>
                    <a:p>
                      <a:pPr algn="r"/>
                      <a:r>
                        <a:rPr lang="en-US" sz="1200">
                          <a:effectLst/>
                        </a:rPr>
                        <a:t>8.9100</a:t>
                      </a:r>
                    </a:p>
                  </a:txBody>
                  <a:tcPr marL="38100" marR="38100" marT="30480" marB="30480" anchor="ctr"/>
                </a:tc>
                <a:tc>
                  <a:txBody>
                    <a:bodyPr/>
                    <a:lstStyle/>
                    <a:p>
                      <a:pPr algn="r"/>
                      <a:r>
                        <a:rPr lang="en-US" sz="1200" dirty="0">
                          <a:effectLst/>
                        </a:rPr>
                        <a:t>0.3162</a:t>
                      </a:r>
                    </a:p>
                  </a:txBody>
                  <a:tcPr marL="38100" marR="38100" marT="30480" marB="30480" anchor="ctr"/>
                </a:tc>
                <a:tc>
                  <a:txBody>
                    <a:bodyPr/>
                    <a:lstStyle/>
                    <a:p>
                      <a:r>
                        <a:rPr lang="en-US" sz="1200" dirty="0"/>
                        <a:t>NO</a:t>
                      </a:r>
                    </a:p>
                  </a:txBody>
                  <a:tcPr marL="83191" marR="83191" marT="41595" marB="41595"/>
                </a:tc>
                <a:tc>
                  <a:txBody>
                    <a:bodyPr/>
                    <a:lstStyle/>
                    <a:p>
                      <a:r>
                        <a:rPr lang="en-US" sz="1200" dirty="0"/>
                        <a:t>11</a:t>
                      </a:r>
                    </a:p>
                  </a:txBody>
                  <a:tcPr marL="83191" marR="83191" marT="41595" marB="41595"/>
                </a:tc>
                <a:tc>
                  <a:txBody>
                    <a:bodyPr/>
                    <a:lstStyle/>
                    <a:p>
                      <a:pPr algn="r"/>
                      <a:r>
                        <a:rPr lang="en-US" sz="1200">
                          <a:effectLst/>
                        </a:rPr>
                        <a:t>9.0157</a:t>
                      </a:r>
                    </a:p>
                  </a:txBody>
                  <a:tcPr marL="38100" marR="38100" marT="30480" marB="30480" anchor="ctr"/>
                </a:tc>
                <a:tc>
                  <a:txBody>
                    <a:bodyPr/>
                    <a:lstStyle/>
                    <a:p>
                      <a:pPr algn="r"/>
                      <a:r>
                        <a:rPr lang="en-US" sz="1200" dirty="0">
                          <a:effectLst/>
                        </a:rPr>
                        <a:t>0.2956</a:t>
                      </a:r>
                    </a:p>
                  </a:txBody>
                  <a:tcPr marL="38100" marR="38100" marT="30480" marB="30480" anchor="ctr"/>
                </a:tc>
                <a:tc>
                  <a:txBody>
                    <a:bodyPr/>
                    <a:lstStyle/>
                    <a:p>
                      <a:r>
                        <a:rPr lang="en-US" sz="1200" dirty="0"/>
                        <a:t>SF</a:t>
                      </a:r>
                    </a:p>
                  </a:txBody>
                  <a:tcPr marL="83191" marR="83191" marT="41595" marB="41595"/>
                </a:tc>
                <a:tc>
                  <a:txBody>
                    <a:bodyPr/>
                    <a:lstStyle/>
                    <a:p>
                      <a:r>
                        <a:rPr lang="en-US" sz="1200" dirty="0"/>
                        <a:t>6</a:t>
                      </a:r>
                    </a:p>
                  </a:txBody>
                  <a:tcPr marL="83191" marR="83191" marT="41595" marB="41595"/>
                </a:tc>
                <a:tc>
                  <a:txBody>
                    <a:bodyPr/>
                    <a:lstStyle/>
                    <a:p>
                      <a:pPr algn="r"/>
                      <a:r>
                        <a:rPr lang="en-US" sz="1200">
                          <a:effectLst/>
                        </a:rPr>
                        <a:t>4.2781</a:t>
                      </a:r>
                    </a:p>
                  </a:txBody>
                  <a:tcPr marL="38100" marR="38100" marT="30480" marB="30480" anchor="ctr"/>
                </a:tc>
                <a:tc>
                  <a:txBody>
                    <a:bodyPr/>
                    <a:lstStyle/>
                    <a:p>
                      <a:pPr algn="r"/>
                      <a:r>
                        <a:rPr lang="en-US" sz="1200" dirty="0">
                          <a:effectLst/>
                        </a:rPr>
                        <a:t>0.0043</a:t>
                      </a:r>
                    </a:p>
                  </a:txBody>
                  <a:tcPr marL="38100" marR="38100" marT="30480" marB="30480" anchor="ctr"/>
                </a:tc>
                <a:extLst>
                  <a:ext uri="{0D108BD9-81ED-4DB2-BD59-A6C34878D82A}">
                    <a16:rowId xmlns:a16="http://schemas.microsoft.com/office/drawing/2014/main" val="4235446810"/>
                  </a:ext>
                </a:extLst>
              </a:tr>
              <a:tr h="282850">
                <a:tc>
                  <a:txBody>
                    <a:bodyPr/>
                    <a:lstStyle/>
                    <a:p>
                      <a:r>
                        <a:rPr lang="en-US" sz="1100" dirty="0"/>
                        <a:t>WAS</a:t>
                      </a:r>
                    </a:p>
                  </a:txBody>
                  <a:tcPr marL="83191" marR="83191" marT="41595" marB="41595"/>
                </a:tc>
                <a:tc>
                  <a:txBody>
                    <a:bodyPr/>
                    <a:lstStyle/>
                    <a:p>
                      <a:r>
                        <a:rPr lang="en-US" sz="1100" dirty="0"/>
                        <a:t>7</a:t>
                      </a:r>
                    </a:p>
                  </a:txBody>
                  <a:tcPr marL="83191" marR="83191" marT="41595" marB="41595"/>
                </a:tc>
                <a:tc>
                  <a:txBody>
                    <a:bodyPr/>
                    <a:lstStyle/>
                    <a:p>
                      <a:pPr algn="r"/>
                      <a:r>
                        <a:rPr lang="en-US" sz="1200">
                          <a:effectLst/>
                        </a:rPr>
                        <a:t>7.5377</a:t>
                      </a:r>
                    </a:p>
                  </a:txBody>
                  <a:tcPr marL="38100" marR="38100" marT="30480" marB="30480" anchor="ctr"/>
                </a:tc>
                <a:tc>
                  <a:txBody>
                    <a:bodyPr/>
                    <a:lstStyle/>
                    <a:p>
                      <a:pPr algn="r"/>
                      <a:r>
                        <a:rPr lang="en-US" sz="1200" dirty="0">
                          <a:effectLst/>
                        </a:rPr>
                        <a:t>0.1150</a:t>
                      </a:r>
                    </a:p>
                  </a:txBody>
                  <a:tcPr marL="38100" marR="38100" marT="30480" marB="30480" anchor="ctr"/>
                </a:tc>
                <a:tc>
                  <a:txBody>
                    <a:bodyPr/>
                    <a:lstStyle/>
                    <a:p>
                      <a:r>
                        <a:rPr lang="en-US" sz="1200" dirty="0"/>
                        <a:t>MIN</a:t>
                      </a:r>
                    </a:p>
                  </a:txBody>
                  <a:tcPr marL="83191" marR="83191" marT="41595" marB="41595"/>
                </a:tc>
                <a:tc>
                  <a:txBody>
                    <a:bodyPr/>
                    <a:lstStyle/>
                    <a:p>
                      <a:r>
                        <a:rPr lang="en-US" sz="1200" dirty="0"/>
                        <a:t>13</a:t>
                      </a:r>
                    </a:p>
                  </a:txBody>
                  <a:tcPr marL="83191" marR="83191" marT="41595" marB="41595"/>
                </a:tc>
                <a:tc>
                  <a:txBody>
                    <a:bodyPr/>
                    <a:lstStyle/>
                    <a:p>
                      <a:pPr algn="r"/>
                      <a:r>
                        <a:rPr lang="en-US" sz="1200">
                          <a:effectLst/>
                        </a:rPr>
                        <a:t>9.4403</a:t>
                      </a:r>
                    </a:p>
                  </a:txBody>
                  <a:tcPr marL="38100" marR="38100" marT="30480" marB="30480" anchor="ctr"/>
                </a:tc>
                <a:tc>
                  <a:txBody>
                    <a:bodyPr/>
                    <a:lstStyle/>
                    <a:p>
                      <a:pPr algn="r"/>
                      <a:r>
                        <a:rPr lang="en-US" sz="1200" dirty="0">
                          <a:effectLst/>
                        </a:rPr>
                        <a:t>0.4213</a:t>
                      </a:r>
                    </a:p>
                  </a:txBody>
                  <a:tcPr marL="38100" marR="38100" marT="30480" marB="30480" anchor="ctr"/>
                </a:tc>
                <a:tc>
                  <a:txBody>
                    <a:bodyPr/>
                    <a:lstStyle/>
                    <a:p>
                      <a:r>
                        <a:rPr lang="en-US" sz="1200" dirty="0"/>
                        <a:t>TB</a:t>
                      </a:r>
                    </a:p>
                  </a:txBody>
                  <a:tcPr marL="83191" marR="83191" marT="41595" marB="41595"/>
                </a:tc>
                <a:tc>
                  <a:txBody>
                    <a:bodyPr/>
                    <a:lstStyle/>
                    <a:p>
                      <a:r>
                        <a:rPr lang="en-US" sz="1200" dirty="0"/>
                        <a:t>5</a:t>
                      </a:r>
                    </a:p>
                  </a:txBody>
                  <a:tcPr marL="83191" marR="83191" marT="41595" marB="41595"/>
                </a:tc>
                <a:tc>
                  <a:txBody>
                    <a:bodyPr/>
                    <a:lstStyle/>
                    <a:p>
                      <a:pPr algn="r"/>
                      <a:r>
                        <a:rPr lang="en-US" sz="1200">
                          <a:effectLst/>
                        </a:rPr>
                        <a:t>6.4308</a:t>
                      </a:r>
                    </a:p>
                  </a:txBody>
                  <a:tcPr marL="38100" marR="38100" marT="30480" marB="30480" anchor="ctr"/>
                </a:tc>
                <a:tc>
                  <a:txBody>
                    <a:bodyPr/>
                    <a:lstStyle/>
                    <a:p>
                      <a:pPr algn="r"/>
                      <a:r>
                        <a:rPr lang="en-US" sz="1200" dirty="0">
                          <a:effectLst/>
                        </a:rPr>
                        <a:t>0.0402</a:t>
                      </a:r>
                    </a:p>
                  </a:txBody>
                  <a:tcPr marL="38100" marR="38100" marT="30480" marB="30480" anchor="ctr"/>
                </a:tc>
                <a:tc>
                  <a:txBody>
                    <a:bodyPr/>
                    <a:lstStyle/>
                    <a:p>
                      <a:r>
                        <a:rPr lang="en-US" sz="1200" dirty="0"/>
                        <a:t>SEA</a:t>
                      </a:r>
                    </a:p>
                  </a:txBody>
                  <a:tcPr marL="83191" marR="83191" marT="41595" marB="41595"/>
                </a:tc>
                <a:tc>
                  <a:txBody>
                    <a:bodyPr/>
                    <a:lstStyle/>
                    <a:p>
                      <a:r>
                        <a:rPr lang="en-US" sz="1200" dirty="0"/>
                        <a:t>9</a:t>
                      </a:r>
                    </a:p>
                  </a:txBody>
                  <a:tcPr marL="83191" marR="83191" marT="41595" marB="41595"/>
                </a:tc>
                <a:tc>
                  <a:txBody>
                    <a:bodyPr/>
                    <a:lstStyle/>
                    <a:p>
                      <a:pPr algn="r"/>
                      <a:r>
                        <a:rPr lang="en-US" sz="1200">
                          <a:effectLst/>
                        </a:rPr>
                        <a:t>9.8880</a:t>
                      </a:r>
                    </a:p>
                  </a:txBody>
                  <a:tcPr marL="38100" marR="38100" marT="30480" marB="30480" anchor="ctr"/>
                </a:tc>
                <a:tc>
                  <a:txBody>
                    <a:bodyPr/>
                    <a:lstStyle/>
                    <a:p>
                      <a:pPr algn="r"/>
                      <a:r>
                        <a:rPr lang="en-US" sz="1200" dirty="0">
                          <a:effectLst/>
                        </a:rPr>
                        <a:t>0.6081</a:t>
                      </a:r>
                    </a:p>
                  </a:txBody>
                  <a:tcPr marL="38100" marR="38100" marT="30480" marB="30480" anchor="ctr"/>
                </a:tc>
                <a:extLst>
                  <a:ext uri="{0D108BD9-81ED-4DB2-BD59-A6C34878D82A}">
                    <a16:rowId xmlns:a16="http://schemas.microsoft.com/office/drawing/2014/main" val="1908954201"/>
                  </a:ext>
                </a:extLst>
              </a:tr>
            </a:tbl>
          </a:graphicData>
        </a:graphic>
      </p:graphicFrame>
      <p:pic>
        <p:nvPicPr>
          <p:cNvPr id="12" name="Picture 11">
            <a:extLst>
              <a:ext uri="{FF2B5EF4-FFF2-40B4-BE49-F238E27FC236}">
                <a16:creationId xmlns:a16="http://schemas.microsoft.com/office/drawing/2014/main" id="{62714C22-BCAC-C515-53E9-B76E50009EEF}"/>
              </a:ext>
            </a:extLst>
          </p:cNvPr>
          <p:cNvPicPr>
            <a:picLocks noChangeAspect="1"/>
          </p:cNvPicPr>
          <p:nvPr/>
        </p:nvPicPr>
        <p:blipFill>
          <a:blip r:embed="rId3"/>
          <a:stretch>
            <a:fillRect/>
          </a:stretch>
        </p:blipFill>
        <p:spPr>
          <a:xfrm>
            <a:off x="1760705" y="3985409"/>
            <a:ext cx="4478166" cy="2645733"/>
          </a:xfrm>
          <a:prstGeom prst="rect">
            <a:avLst/>
          </a:prstGeom>
        </p:spPr>
      </p:pic>
    </p:spTree>
    <p:extLst>
      <p:ext uri="{BB962C8B-B14F-4D97-AF65-F5344CB8AC3E}">
        <p14:creationId xmlns:p14="http://schemas.microsoft.com/office/powerpoint/2010/main" val="3705598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4E497-D931-CDF8-7F82-A4C7C710A57E}"/>
              </a:ext>
            </a:extLst>
          </p:cNvPr>
          <p:cNvSpPr>
            <a:spLocks noGrp="1"/>
          </p:cNvSpPr>
          <p:nvPr>
            <p:ph type="title"/>
          </p:nvPr>
        </p:nvSpPr>
        <p:spPr/>
        <p:txBody>
          <a:bodyPr/>
          <a:lstStyle/>
          <a:p>
            <a:r>
              <a:rPr lang="en-US" dirty="0"/>
              <a:t>Comparison of Simulation and Actual Regular Season</a:t>
            </a:r>
          </a:p>
        </p:txBody>
      </p:sp>
      <p:sp>
        <p:nvSpPr>
          <p:cNvPr id="3" name="Content Placeholder 2">
            <a:extLst>
              <a:ext uri="{FF2B5EF4-FFF2-40B4-BE49-F238E27FC236}">
                <a16:creationId xmlns:a16="http://schemas.microsoft.com/office/drawing/2014/main" id="{DB900081-5962-2E64-129A-9D42D56C562E}"/>
              </a:ext>
            </a:extLst>
          </p:cNvPr>
          <p:cNvSpPr>
            <a:spLocks noGrp="1"/>
          </p:cNvSpPr>
          <p:nvPr>
            <p:ph idx="1"/>
          </p:nvPr>
        </p:nvSpPr>
        <p:spPr>
          <a:xfrm>
            <a:off x="1484311" y="2438399"/>
            <a:ext cx="10018713" cy="3439887"/>
          </a:xfrm>
        </p:spPr>
        <p:txBody>
          <a:bodyPr>
            <a:normAutofit lnSpcReduction="10000"/>
          </a:bodyPr>
          <a:lstStyle/>
          <a:p>
            <a:pPr marL="0" indent="0">
              <a:buNone/>
            </a:pPr>
            <a:r>
              <a:rPr lang="en-US" sz="1400" dirty="0"/>
              <a:t>Overall, the Monte Carlo simulation did a relatively good job at predicting actual wins for each team in the 2017 season. The greatest residual between actual and simulated win totals  was either overpredicted or underpredicted by 3 games. In a season with 17 games and 32 teams, missing 3 games  for 8 teams  is not a poor showing. The teams that were overpredicted by 3 games included: Houston Texans, Cleveland Browns, New York Giants, Indianapolis Colts, and the Denver Broncos. The teams that were underpredicted by 3 games  included: Minnesota Vikings, Los Angeles Rams, and the Philadelphia Eagles. There were an additional 7 teams that had a simulated win total that was within one game of their actual win total. These teams included: Miami Dolphins, Kansas City Chiefs, Seattle Seahawks, Cincinnati Bengals, Washington Commanders, Arizona Cardinals, and the Chicago Bears. </a:t>
            </a:r>
          </a:p>
          <a:p>
            <a:pPr marL="0" indent="0">
              <a:buNone/>
            </a:pPr>
            <a:r>
              <a:rPr lang="en-US" sz="1400" dirty="0"/>
              <a:t>The simulation only failed to predict two division winners: the NFC South and the NFC West. For the NFC South, the simulation predicted the Atlanta Falcons to win the division, however the New Orleans Saints were the winners. To give some credit to the simulation, three teams in the NFC South were within 1 game of each other and the simulated proportions for division winners were relatively equal across those 3 teams. To elaborate, the simulation was very close to predicting the correct division winner in a division whose winner is always a coin toss, so it’s not as if the simulation was drastically off. For the NFC West, the simulation predicted the Seattle Seahawks to win the division, however the Los Angeles Rams were the winners. Seattle ended 2 games under LA. The disparity between the simulation and reality can be explained in that Seattle lost 6 of their 10 close games, whereas LA won 4 of their 7 close games. The fact that the two won the same number of close games yet Seattle had 3 more opportunities to take the lead could be reason as to why the Seahawks underperformed relative to the simulation.</a:t>
            </a:r>
          </a:p>
        </p:txBody>
      </p:sp>
    </p:spTree>
    <p:extLst>
      <p:ext uri="{BB962C8B-B14F-4D97-AF65-F5344CB8AC3E}">
        <p14:creationId xmlns:p14="http://schemas.microsoft.com/office/powerpoint/2010/main" val="2612049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2F20050C-409A-427F-8B1B-CC080E4B98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26" name="Freeform 6">
              <a:extLst>
                <a:ext uri="{FF2B5EF4-FFF2-40B4-BE49-F238E27FC236}">
                  <a16:creationId xmlns:a16="http://schemas.microsoft.com/office/drawing/2014/main" id="{D9A6442D-4773-4F5E-B862-1FC2BB1C4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7" name="Freeform 7">
              <a:extLst>
                <a:ext uri="{FF2B5EF4-FFF2-40B4-BE49-F238E27FC236}">
                  <a16:creationId xmlns:a16="http://schemas.microsoft.com/office/drawing/2014/main" id="{2C627CDA-214B-4BBA-8D42-39B961B28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8" name="Freeform 8">
              <a:extLst>
                <a:ext uri="{FF2B5EF4-FFF2-40B4-BE49-F238E27FC236}">
                  <a16:creationId xmlns:a16="http://schemas.microsoft.com/office/drawing/2014/main" id="{4DFE7697-C523-4CA4-8F34-CBB0CFB10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9" name="Freeform 9">
              <a:extLst>
                <a:ext uri="{FF2B5EF4-FFF2-40B4-BE49-F238E27FC236}">
                  <a16:creationId xmlns:a16="http://schemas.microsoft.com/office/drawing/2014/main" id="{83F6E0A8-0638-4D6F-88E9-14A58EB5AE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0" name="Freeform 10">
              <a:extLst>
                <a:ext uri="{FF2B5EF4-FFF2-40B4-BE49-F238E27FC236}">
                  <a16:creationId xmlns:a16="http://schemas.microsoft.com/office/drawing/2014/main" id="{B89E237D-6539-40AD-8DC8-84FCF6B3DE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1" name="Freeform 11">
              <a:extLst>
                <a:ext uri="{FF2B5EF4-FFF2-40B4-BE49-F238E27FC236}">
                  <a16:creationId xmlns:a16="http://schemas.microsoft.com/office/drawing/2014/main" id="{461257D0-6EE7-49E5-8F18-1434BF087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52EC954A-E6E6-42EC-66D4-02C97D2C1227}"/>
              </a:ext>
            </a:extLst>
          </p:cNvPr>
          <p:cNvSpPr>
            <a:spLocks noGrp="1"/>
          </p:cNvSpPr>
          <p:nvPr>
            <p:ph type="title"/>
          </p:nvPr>
        </p:nvSpPr>
        <p:spPr>
          <a:xfrm>
            <a:off x="1484312" y="685800"/>
            <a:ext cx="2812385" cy="1752599"/>
          </a:xfrm>
        </p:spPr>
        <p:txBody>
          <a:bodyPr>
            <a:normAutofit/>
          </a:bodyPr>
          <a:lstStyle/>
          <a:p>
            <a:pPr>
              <a:lnSpc>
                <a:spcPct val="90000"/>
              </a:lnSpc>
            </a:pPr>
            <a:r>
              <a:rPr lang="en-US" sz="2700" dirty="0"/>
              <a:t>Analysis of Overachieving Team:</a:t>
            </a:r>
            <a:br>
              <a:rPr lang="en-US" sz="2700" dirty="0"/>
            </a:br>
            <a:r>
              <a:rPr lang="en-US" sz="2700" dirty="0"/>
              <a:t>Carolina Panthers</a:t>
            </a:r>
          </a:p>
        </p:txBody>
      </p:sp>
      <p:sp>
        <p:nvSpPr>
          <p:cNvPr id="9" name="Content Placeholder 8">
            <a:extLst>
              <a:ext uri="{FF2B5EF4-FFF2-40B4-BE49-F238E27FC236}">
                <a16:creationId xmlns:a16="http://schemas.microsoft.com/office/drawing/2014/main" id="{84E0B76A-C81C-F98A-07F5-5564A2F5DED0}"/>
              </a:ext>
            </a:extLst>
          </p:cNvPr>
          <p:cNvSpPr>
            <a:spLocks noGrp="1"/>
          </p:cNvSpPr>
          <p:nvPr>
            <p:ph idx="1"/>
          </p:nvPr>
        </p:nvSpPr>
        <p:spPr>
          <a:xfrm>
            <a:off x="1177439" y="2231716"/>
            <a:ext cx="3177024" cy="3071328"/>
          </a:xfrm>
        </p:spPr>
        <p:txBody>
          <a:bodyPr>
            <a:normAutofit/>
          </a:bodyPr>
          <a:lstStyle/>
          <a:p>
            <a:pPr marL="0" indent="0">
              <a:buNone/>
            </a:pPr>
            <a:r>
              <a:rPr lang="en-US" sz="1400" dirty="0"/>
              <a:t>The Carolina Panthers were one of the most overachieving teams according to the Monte Carlo Simulation. They were expected to win between 8 and 9 games, but actually won 11. This can be attributed to the Pythagorean win percentage data where we see that the Panthers won 8 of their 9 close games, despite their quarterback having a QBR rating that sits at the center of the QBR histogram.</a:t>
            </a:r>
          </a:p>
        </p:txBody>
      </p:sp>
      <p:sp>
        <p:nvSpPr>
          <p:cNvPr id="33" name="Rounded Rectangle 16">
            <a:extLst>
              <a:ext uri="{FF2B5EF4-FFF2-40B4-BE49-F238E27FC236}">
                <a16:creationId xmlns:a16="http://schemas.microsoft.com/office/drawing/2014/main" id="{62D73780-58B7-4124-85C7-4ACE829495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09377B2-3504-D318-8FAB-A8C61C3E6957}"/>
              </a:ext>
            </a:extLst>
          </p:cNvPr>
          <p:cNvPicPr>
            <a:picLocks noChangeAspect="1"/>
          </p:cNvPicPr>
          <p:nvPr/>
        </p:nvPicPr>
        <p:blipFill>
          <a:blip r:embed="rId3"/>
          <a:stretch>
            <a:fillRect/>
          </a:stretch>
        </p:blipFill>
        <p:spPr>
          <a:xfrm>
            <a:off x="5074702" y="1623721"/>
            <a:ext cx="6371717" cy="3662654"/>
          </a:xfrm>
          <a:prstGeom prst="rect">
            <a:avLst/>
          </a:prstGeom>
        </p:spPr>
      </p:pic>
    </p:spTree>
    <p:extLst>
      <p:ext uri="{BB962C8B-B14F-4D97-AF65-F5344CB8AC3E}">
        <p14:creationId xmlns:p14="http://schemas.microsoft.com/office/powerpoint/2010/main" val="2588361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1E65-33FD-59E0-BDA1-AC35F0127832}"/>
              </a:ext>
            </a:extLst>
          </p:cNvPr>
          <p:cNvSpPr>
            <a:spLocks noGrp="1"/>
          </p:cNvSpPr>
          <p:nvPr>
            <p:ph type="title"/>
          </p:nvPr>
        </p:nvSpPr>
        <p:spPr>
          <a:xfrm>
            <a:off x="1484311" y="1081548"/>
            <a:ext cx="3333495" cy="1504335"/>
          </a:xfrm>
        </p:spPr>
        <p:txBody>
          <a:bodyPr>
            <a:normAutofit/>
          </a:bodyPr>
          <a:lstStyle/>
          <a:p>
            <a:r>
              <a:rPr lang="en-US" sz="2400"/>
              <a:t>Analysis of Underachieving Team: </a:t>
            </a:r>
            <a:br>
              <a:rPr lang="en-US" sz="2400"/>
            </a:br>
            <a:r>
              <a:rPr lang="en-US" sz="2400"/>
              <a:t>Cleveland Browns</a:t>
            </a:r>
          </a:p>
        </p:txBody>
      </p:sp>
      <p:sp>
        <p:nvSpPr>
          <p:cNvPr id="9" name="Content Placeholder 8">
            <a:extLst>
              <a:ext uri="{FF2B5EF4-FFF2-40B4-BE49-F238E27FC236}">
                <a16:creationId xmlns:a16="http://schemas.microsoft.com/office/drawing/2014/main" id="{6D884E3E-B238-CBB3-1E6C-045529ABB5D9}"/>
              </a:ext>
            </a:extLst>
          </p:cNvPr>
          <p:cNvSpPr>
            <a:spLocks noGrp="1"/>
          </p:cNvSpPr>
          <p:nvPr>
            <p:ph idx="1"/>
          </p:nvPr>
        </p:nvSpPr>
        <p:spPr>
          <a:xfrm>
            <a:off x="1484311" y="2666999"/>
            <a:ext cx="3333496" cy="3124201"/>
          </a:xfrm>
        </p:spPr>
        <p:txBody>
          <a:bodyPr anchor="t">
            <a:normAutofit/>
          </a:bodyPr>
          <a:lstStyle/>
          <a:p>
            <a:pPr marL="0" indent="0">
              <a:buNone/>
            </a:pPr>
            <a:r>
              <a:rPr lang="en-US" sz="1400" dirty="0"/>
              <a:t>The Cleveland Browns were one of the most underachieving teams in 2017. The Monte Carlo simulation predicted them to win about 3 games, however, they never won in the 2017 season. This makes sense because their quarterback had a QBR rating that sat at the lowest bin of the QBR rating histogram. Also, according to their calculated Pythagorean win percentages, the Browns won 0 out of their 6 close games. This serves as more explanation as to why they performed so poorly in 2017. </a:t>
            </a:r>
          </a:p>
        </p:txBody>
      </p:sp>
      <p:pic>
        <p:nvPicPr>
          <p:cNvPr id="5" name="Content Placeholder 4">
            <a:extLst>
              <a:ext uri="{FF2B5EF4-FFF2-40B4-BE49-F238E27FC236}">
                <a16:creationId xmlns:a16="http://schemas.microsoft.com/office/drawing/2014/main" id="{A931C0A3-D41F-F040-D1B6-0FE6A3CCF516}"/>
              </a:ext>
            </a:extLst>
          </p:cNvPr>
          <p:cNvPicPr>
            <a:picLocks noChangeAspect="1"/>
          </p:cNvPicPr>
          <p:nvPr/>
        </p:nvPicPr>
        <p:blipFill>
          <a:blip r:embed="rId3"/>
          <a:stretch>
            <a:fillRect/>
          </a:stretch>
        </p:blipFill>
        <p:spPr>
          <a:xfrm>
            <a:off x="5262033" y="1160598"/>
            <a:ext cx="6240990" cy="410345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014139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AB35F-36E7-1B80-390E-B0F7E54762C6}"/>
              </a:ext>
            </a:extLst>
          </p:cNvPr>
          <p:cNvSpPr>
            <a:spLocks noGrp="1"/>
          </p:cNvSpPr>
          <p:nvPr>
            <p:ph type="title"/>
          </p:nvPr>
        </p:nvSpPr>
        <p:spPr/>
        <p:txBody>
          <a:bodyPr/>
          <a:lstStyle/>
          <a:p>
            <a:r>
              <a:rPr lang="en-US" dirty="0"/>
              <a:t>Conclusions/Takeaways</a:t>
            </a:r>
          </a:p>
        </p:txBody>
      </p:sp>
      <p:sp>
        <p:nvSpPr>
          <p:cNvPr id="3" name="Content Placeholder 2">
            <a:extLst>
              <a:ext uri="{FF2B5EF4-FFF2-40B4-BE49-F238E27FC236}">
                <a16:creationId xmlns:a16="http://schemas.microsoft.com/office/drawing/2014/main" id="{BE9762F0-7BA6-4191-0147-979E1BE91657}"/>
              </a:ext>
            </a:extLst>
          </p:cNvPr>
          <p:cNvSpPr>
            <a:spLocks noGrp="1"/>
          </p:cNvSpPr>
          <p:nvPr>
            <p:ph idx="1"/>
          </p:nvPr>
        </p:nvSpPr>
        <p:spPr>
          <a:xfrm>
            <a:off x="2032951" y="2438399"/>
            <a:ext cx="10018713" cy="4660393"/>
          </a:xfrm>
        </p:spPr>
        <p:txBody>
          <a:bodyPr>
            <a:normAutofit fontScale="92500" lnSpcReduction="10000"/>
          </a:bodyPr>
          <a:lstStyle/>
          <a:p>
            <a:r>
              <a:rPr lang="en-US" dirty="0"/>
              <a:t>The Monte Carlo simulation gave a very accurate prediction of what each team’s actual wins would look like in the 2017 season.</a:t>
            </a:r>
          </a:p>
          <a:p>
            <a:r>
              <a:rPr lang="en-US" dirty="0"/>
              <a:t>It did an even better job at predicting the division winners, only failing 2 out of 8 divisions.</a:t>
            </a:r>
          </a:p>
          <a:p>
            <a:pPr lvl="1"/>
            <a:r>
              <a:rPr lang="en-US" dirty="0"/>
              <a:t>One of those divisions had a tie for division winner that was determined by head-to-head wins.</a:t>
            </a:r>
          </a:p>
          <a:p>
            <a:r>
              <a:rPr lang="en-US" dirty="0"/>
              <a:t>The most overachieving team in the simulation was Minnesota and the most underachieving team in the simulation was Houston</a:t>
            </a:r>
          </a:p>
          <a:p>
            <a:r>
              <a:rPr lang="en-US" dirty="0"/>
              <a:t>The Bradley-Terry ratings had Philadelphia as the best team and Cleveland as the worst team</a:t>
            </a:r>
          </a:p>
          <a:p>
            <a:r>
              <a:rPr lang="en-US" dirty="0"/>
              <a:t>The postseason Elo ratings had New England as the best team and Cleveland (still) being the worst team.</a:t>
            </a:r>
          </a:p>
          <a:p>
            <a:endParaRPr lang="en-US" dirty="0"/>
          </a:p>
          <a:p>
            <a:endParaRPr lang="en-US" dirty="0"/>
          </a:p>
        </p:txBody>
      </p:sp>
    </p:spTree>
    <p:extLst>
      <p:ext uri="{BB962C8B-B14F-4D97-AF65-F5344CB8AC3E}">
        <p14:creationId xmlns:p14="http://schemas.microsoft.com/office/powerpoint/2010/main" val="27482093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docProps/app.xml><?xml version="1.0" encoding="utf-8"?>
<Properties xmlns="http://schemas.openxmlformats.org/officeDocument/2006/extended-properties" xmlns:vt="http://schemas.openxmlformats.org/officeDocument/2006/docPropsVTypes">
  <Template>TM03457496[[fn=Parallax]]</Template>
  <TotalTime>11978</TotalTime>
  <Words>3321</Words>
  <Application>Microsoft Office PowerPoint</Application>
  <PresentationFormat>Widescreen</PresentationFormat>
  <Paragraphs>535</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Corbel</vt:lpstr>
      <vt:lpstr>Parallax</vt:lpstr>
      <vt:lpstr>NFL 2017 Seasonal Analysis</vt:lpstr>
      <vt:lpstr>2017 Season Overview</vt:lpstr>
      <vt:lpstr>Relevant Statistics</vt:lpstr>
      <vt:lpstr>Relevant Statistics Discussion</vt:lpstr>
      <vt:lpstr>Scoring Distribution (Home Score)</vt:lpstr>
      <vt:lpstr>Scoring Distribution (Away Score)</vt:lpstr>
      <vt:lpstr>Scoreline Distribution (Home vs. Away)</vt:lpstr>
      <vt:lpstr>Scoring Distribution (Margin of Victory)</vt:lpstr>
      <vt:lpstr>Scoring Distribution Discussion</vt:lpstr>
      <vt:lpstr>Pythagorean Win Percentages</vt:lpstr>
      <vt:lpstr>Pythagorean Win Percentages Discussion</vt:lpstr>
      <vt:lpstr>Bradley-Terry Ratings</vt:lpstr>
      <vt:lpstr>Bradley-Terry Ratings Discussion</vt:lpstr>
      <vt:lpstr>Preseason and Postseason Elo Ratings</vt:lpstr>
      <vt:lpstr>Elo Ratings Discussion</vt:lpstr>
      <vt:lpstr>Eagles Elo Ratings Across the Season</vt:lpstr>
      <vt:lpstr>Eagles Elo Ratings Discussion</vt:lpstr>
      <vt:lpstr>Monte Carlo Simulation</vt:lpstr>
      <vt:lpstr>Comparison of Simulation and Actual Regular Season</vt:lpstr>
      <vt:lpstr>Analysis of Overachieving Team: Carolina Panthers</vt:lpstr>
      <vt:lpstr>Analysis of Underachieving Team:  Cleveland Browns</vt:lpstr>
      <vt:lpstr>Conclusions/Takeaways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Sports Analytics Final Project: NFL 2017</dc:title>
  <dc:creator>ben witkowski</dc:creator>
  <cp:lastModifiedBy>Witkowski, Ben</cp:lastModifiedBy>
  <cp:revision>15</cp:revision>
  <dcterms:created xsi:type="dcterms:W3CDTF">2023-12-04T01:28:43Z</dcterms:created>
  <dcterms:modified xsi:type="dcterms:W3CDTF">2026-01-20T21:51:47Z</dcterms:modified>
</cp:coreProperties>
</file>